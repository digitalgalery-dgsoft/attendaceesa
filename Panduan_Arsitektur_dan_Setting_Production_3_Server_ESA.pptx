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756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87E582-DAB4-403B-92F8-E877117794FA}" type="datetimeFigureOut">
              <a:rPr lang="id-ID" smtClean="0"/>
              <a:t>02/09/2026</a:t>
            </a:fld>
            <a:endParaRPr lang="id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d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d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d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FE1F5-6C2B-4C70-97D1-A362E8D6A10B}" type="slidenum">
              <a:rPr lang="id-ID" smtClean="0"/>
              <a:t>‹#›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118090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d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EFE1F5-6C2B-4C70-97D1-A362E8D6A10B}" type="slidenum">
              <a:rPr lang="id-ID" smtClean="0"/>
              <a:t>15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42840615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85D8-A1D3-FD01-6B92-5E7677B91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D45895-CF0B-2C9F-1BFF-7360007495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65CEEF-A234-B593-301D-00D46E30C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d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BCE21-C340-B07D-94EE-494CCC559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EFE1F5-6C2B-4C70-97D1-A362E8D6A10B}" type="slidenum">
              <a:rPr lang="id-ID" smtClean="0"/>
              <a:t>16</a:t>
            </a:fld>
            <a:endParaRPr lang="id-ID"/>
          </a:p>
        </p:txBody>
      </p:sp>
    </p:spTree>
    <p:extLst>
      <p:ext uri="{BB962C8B-B14F-4D97-AF65-F5344CB8AC3E}">
        <p14:creationId xmlns:p14="http://schemas.microsoft.com/office/powerpoint/2010/main" val="38917012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280160" y="1188720"/>
            <a:ext cx="5029200" cy="411480"/>
          </a:xfrm>
          <a:prstGeom prst="roundRect">
            <a:avLst/>
          </a:prstGeom>
          <a:solidFill>
            <a:srgbClr val="1E3A8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38BDF8"/>
                </a:solidFill>
              </a:defRPr>
            </a:pPr>
            <a:r>
              <a:t>PANDUAN TEKNIS &amp; SOP AAPANEL •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288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Panduan Arsitektur &amp; Setting 3 Server (aaPanel)</a:t>
            </a:r>
          </a:p>
          <a:p>
            <a:pPr>
              <a:spcBef>
                <a:spcPts val="800"/>
              </a:spcBef>
              <a:defRPr sz="1800" b="1">
                <a:solidFill>
                  <a:srgbClr val="34D399"/>
                </a:solidFill>
              </a:defRPr>
            </a:pPr>
            <a:r>
              <a:t>Aplikasi Presensi Mobile &amp; Pelaporan Lapangan (ESA Groups - 23.511 Karyawan)</a:t>
            </a:r>
          </a:p>
          <a:p>
            <a:pPr>
              <a:spcBef>
                <a:spcPts val="1000"/>
              </a:spcBef>
              <a:defRPr sz="1100">
                <a:solidFill>
                  <a:srgbClr val="94A3B8"/>
                </a:solidFill>
              </a:defRPr>
            </a:pPr>
            <a:r>
              <a:t>SOP Lengkap Konfigurasi aaPanel (LNMP Stack, PHP 8.2 Tuning, Supervisor, Cron Job Odoo, &amp; Dynamic Routing)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4389120"/>
            <a:ext cx="9601200" cy="1280160"/>
          </a:xfrm>
          <a:prstGeom prst="roundRect">
            <a:avLst/>
          </a:prstGeom>
          <a:solidFill>
            <a:srgbClr val="0F172A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100" b="1">
                <a:solidFill>
                  <a:srgbClr val="FBBF24"/>
                </a:solidFill>
              </a:defRPr>
            </a:pPr>
            <a:r>
              <a:t>CAKUPAN PANDUAN DEPLOYMENT AAPANEL:</a:t>
            </a:r>
          </a:p>
          <a:p>
            <a:pPr>
              <a:spcBef>
                <a:spcPts val="300"/>
              </a:spcBef>
              <a:defRPr sz="1000">
                <a:solidFill>
                  <a:srgbClr val="FFFFFF"/>
                </a:solidFill>
              </a:defRPr>
            </a:pPr>
            <a:r>
              <a:t>1. Setup LNMP (Nginx 1.24, PHP 8.2-FPM, PostgreSQL/MySQL, Redis 7, Supervisor Process Manager)</a:t>
            </a:r>
          </a:p>
          <a:p>
            <a:pPr>
              <a:spcBef>
                <a:spcPts val="200"/>
              </a:spcBef>
              <a:defRPr sz="1000">
                <a:solidFill>
                  <a:srgbClr val="38BDF8"/>
                </a:solidFill>
              </a:defRPr>
            </a:pPr>
            <a:r>
              <a:t>2. Konfigurasi Website, Document Root /public, URL Rewrite Laravel, dan SSL Let's Encrypt Wildcard (*.esagroups.id)</a:t>
            </a:r>
          </a:p>
          <a:p>
            <a:pPr>
              <a:spcBef>
                <a:spcPts val="200"/>
              </a:spcBef>
              <a:defRPr sz="1000">
                <a:solidFill>
                  <a:srgbClr val="34D399"/>
                </a:solidFill>
              </a:defRPr>
            </a:pPr>
            <a:r>
              <a:t>3. Setting Dynamic Routing Mobile App, Hierarki SPV Lintas Entitas, dan Cron Background Sync Odoo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DESAIN INFRASTRUKTUR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Topologi Jaringan &amp; Multi-Instance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Pemisahan komputasi independen yang terhubung melalui Private Local Network (Inter-VPC).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38BDF8"/>
                </a:solidFill>
              </a:defRPr>
            </a:pPr>
            <a:r>
              <a:t>SERVER 1: PT AMK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(11.687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amk.esagroups.id</a:t>
            </a:r>
            <a:br/>
            <a:r>
              <a:t>Private VPC: 10.0.1.10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AMK</a:t>
            </a:r>
            <a:br/>
            <a:r>
              <a:t>• High RAM for Database Buffer</a:t>
            </a:r>
            <a:br/>
            <a:r>
              <a:t>• Odoo Sync Processor AMK</a:t>
            </a:r>
            <a:br/>
            <a:r>
              <a:t>• Offload Foto ke S3 Bucket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SERVER 2: ATB+ATK+ABO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Multi-Tenant (7.424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atb.esagroups.id</a:t>
            </a:r>
            <a:br/>
            <a:r>
              <a:t>Private VPC: 10.0.1.20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3 PT</a:t>
            </a:r>
            <a:br/>
            <a:r>
              <a:t>• Multi-Tenant Schema Isolation</a:t>
            </a:r>
            <a:br/>
            <a:r>
              <a:t>• Odoo Sync ATB, ATK, ABO</a:t>
            </a:r>
            <a:br/>
            <a:r>
              <a:t>• Offload Foto ke S3 Bucket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413455" cy="347472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400" b="1">
                <a:solidFill>
                  <a:srgbClr val="FBBF24"/>
                </a:solidFill>
              </a:defRPr>
            </a:pPr>
            <a:r>
              <a:t>SERVER 3: PT AKP</a:t>
            </a:r>
          </a:p>
          <a:p>
            <a:pPr>
              <a:spcBef>
                <a:spcPts val="300"/>
              </a:spcBef>
              <a:defRPr sz="1000" b="1">
                <a:solidFill>
                  <a:srgbClr val="FFFFFF"/>
                </a:solidFill>
              </a:defRPr>
            </a:pPr>
            <a:r>
              <a:t>Single Entity (4.400 Karyawan)</a:t>
            </a:r>
          </a:p>
          <a:p>
            <a:pPr>
              <a:spcBef>
                <a:spcPts val="800"/>
              </a:spcBef>
              <a:defRPr sz="950">
                <a:solidFill>
                  <a:srgbClr val="38BDF8"/>
                </a:solidFill>
              </a:defRPr>
            </a:pPr>
            <a:r>
              <a:t>Public: akp.esagroups.id</a:t>
            </a:r>
            <a:br/>
            <a:r>
              <a:t>Private VPC: 10.0.1.30</a:t>
            </a:r>
          </a:p>
          <a:p>
            <a:pPr>
              <a:spcBef>
                <a:spcPts val="800"/>
              </a:spcBef>
              <a:defRPr sz="950">
                <a:solidFill>
                  <a:srgbClr val="E2E8F0"/>
                </a:solidFill>
              </a:defRPr>
            </a:pPr>
            <a:r>
              <a:t>• Web Admin &amp; API Engine PT AKP</a:t>
            </a:r>
            <a:br/>
            <a:r>
              <a:t>• Standar High-Performance VPS</a:t>
            </a:r>
            <a:br/>
            <a:r>
              <a:t>• Odoo Sync Processor AKP</a:t>
            </a:r>
            <a:br/>
            <a:r>
              <a:t>• Offload Foto ke S3 Bucket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728655" cy="10972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37160" rtlCol="0" anchor="ctr"/>
          <a:lstStyle/>
          <a:p>
            <a:pPr algn="ctr">
              <a:defRPr sz="1050" b="1">
                <a:solidFill>
                  <a:srgbClr val="A855F7"/>
                </a:solidFill>
              </a:defRPr>
            </a:pPr>
            <a:r>
              <a:t>🔗 JALUR KOMUNIKASI DATA (INTER-VPC PRIVATE NETWORK &amp; OBJECT STORAGE):</a:t>
            </a:r>
          </a:p>
          <a:p>
            <a:pPr>
              <a:spcBef>
                <a:spcPts val="300"/>
              </a:spcBef>
              <a:defRPr sz="950">
                <a:solidFill>
                  <a:srgbClr val="FFFFFF"/>
                </a:solidFill>
              </a:defRPr>
            </a:pPr>
            <a:r>
              <a:t>• Ketiga server berada di Data Center yang sama dan terhubung via Local Private IP (10.0.1.x) dengan kecepatan 10 Gbps (Latensi &lt; 1ms).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• Media foto selfie presensi dan bukti kunjungan diunggah ke S3-Compatible Object Storage (Gratis 3x 100 GB) sehingga dapat diakses bersama secara instan.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Panduan Instalasi aaPanel &amp; Konfigurasi LNMP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Tahapan penyiapan environment pada Ubuntu 22.04 LTS hingga siap digunakan.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1. Instalasi aaPanel di Ubuntu 22.04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Eksekusi one-line script instalasi resmi aaPanel via terminal SSH: `wget -O install.sh http://www.aapanel.com/script/install-ubuntu_6.0_en.sh &amp;&amp; sudo bash install.sh aapanel`.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2. Instalasi Paket LNMP (App Store)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Pilih stack: Nginx 1.24+, PHP 8.2 (Wajib), PostgreSQL 15 / MySQL 8.0, Redis 7.0+, dan Supervisor Process Manager.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728655" cy="1097280"/>
          </a:xfrm>
          <a:prstGeom prst="roundRect">
            <a:avLst/>
          </a:prstGeom>
          <a:solidFill>
            <a:srgbClr val="14203C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3. Instalasi Ekstensi PHP 8.2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Masuk ke PHP 8.2 Settings &gt; Install Extensions: Wajib install `fileinfo`, `redis`, `pgsql`/`pdo_pgsql`, `gd`, `zip`, `xmlrpc`, `bcmath`, dan `opcache`.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212080"/>
            <a:ext cx="10728655" cy="10972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64592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4. Tuning Performa PHP (php.ini)</a:t>
            </a:r>
          </a:p>
          <a:p>
            <a:pPr>
              <a:spcBef>
                <a:spcPts val="400"/>
              </a:spcBef>
              <a:defRPr sz="1000">
                <a:solidFill>
                  <a:srgbClr val="E2E8F0"/>
                </a:solidFill>
              </a:defRPr>
            </a:pPr>
            <a:r>
              <a:t>Atur nilai: `memory_limit = 1024M`, `upload_max_filesize = 50M`, `post_max_size = 50M`, `max_execution_time = 300`, `max_input_vars = 5000`.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SOP KONFIGURASI SERVER (BAGIAN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Setting Website, SSL Wildcard, Supervisor &amp; Cron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Langkah deploy kode aplikasi, SSL otomatis, dan otomatisasi task background.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1. Add Website &amp; Document Root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Buat website di aaPanel (misal `amk.esagroups.id` &amp; `*.amk.esagroups.id`). Set **Running Directory** ke `/public`. Set URL Rewrite ke preset `laravel5`.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2. SSL Let's Encrypt Wildcard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Buka tab SSL &gt; Let's Encrypt &gt; centang domain dan subdomain &gt; Apply. Aktifkan toggle **Force HTTPS** untuk enkripsi penuh port 443.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6616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3. Clone Project &amp; Build Cache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terminal: `git clone ...`, `composer install --no-dev`, `cp .env.example .env`, `php artisan key:generate`, `php artisan migrate --force`, `php artisan optimize`.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4. Supervisor Queue Worker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App Store &gt; Supervisor &gt; Add Daemon: Command `php artisan queue:work redis --sleep=3 --tries=3` dengan 4 worker paralel untuk antrean background email &amp; notifikasi.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486400"/>
            <a:ext cx="10728655" cy="868680"/>
          </a:xfrm>
          <a:prstGeom prst="roundRect">
            <a:avLst/>
          </a:prstGeom>
          <a:solidFill>
            <a:srgbClr val="14203C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5. Setting Cron Job Dini Hari</a:t>
            </a:r>
          </a:p>
          <a:p>
            <a:pPr>
              <a:spcBef>
                <a:spcPts val="200"/>
              </a:spcBef>
              <a:defRPr sz="950">
                <a:solidFill>
                  <a:srgbClr val="E2E8F0"/>
                </a:solidFill>
              </a:defRPr>
            </a:pPr>
            <a:r>
              <a:t>Di menu Cron aaPanel: Tambah task setiap 1 menit (`php artisan schedule:run`) dan task jam 01:00 WIB (`php artisan odoo:sync-employees`).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MOBILE CLIENT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Skema URL &amp; Dynamic Server Routing pada Mobile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Karyawan cukup memasukkan NIK di aplikasi mobile; sistem otomatis merutekan traffic ke server yang tepat.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621792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00" b="1">
                <a:solidFill>
                  <a:srgbClr val="38BDF8"/>
                </a:solidFill>
              </a:defRPr>
            </a:pPr>
            <a:r>
              <a:t>ALUR PENETAPAN URL DI APLIKASI MOBILE: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1. Single Gateway Entrypoint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Aplikasi mobile di-build dengan 1 domain default: https://api.esagroups.id. Karyawan TIDAK perlu memilih atau mengetik server manual.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2. Login &amp; Server Discovery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Karyawan input NIK &amp; Password. Gateway memeriksa entitas karyawan dan meneruskan verifikasi ke server entitas terkait.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3. Dynamic Endpoint Storing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Setelah login sukses, server mengembalikan API Base URL (misal https://atb.esagroups.id). Mobile app menyimpan endpoint ini di local secure storage.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4. Direct High-Speed Traffic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Seluruh transaksi presensi, selfie kamera, geofence GPS, dan visit report selanjutnya langsung dikirim ke server tujuan secara efisien.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645920"/>
            <a:ext cx="432785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100" b="1">
                <a:solidFill>
                  <a:srgbClr val="34D399"/>
                </a:solidFill>
              </a:defRPr>
            </a:pPr>
            <a:r>
              <a:t>STRUKTUR RESPONSE AUTH (JSON):</a:t>
            </a:r>
          </a:p>
          <a:p>
            <a:pPr>
              <a:spcBef>
                <a:spcPts val="800"/>
              </a:spcBef>
              <a:defRPr sz="900">
                <a:solidFill>
                  <a:srgbClr val="A78BFA"/>
                </a:solidFill>
              </a:defRPr>
            </a:pPr>
            <a:r>
              <a:t>{</a:t>
            </a:r>
            <a:br/>
            <a:r>
              <a:t>  "status": "success",</a:t>
            </a:r>
            <a:br/>
            <a:r>
              <a:t>  "message": "Login berhasil",</a:t>
            </a:r>
            <a:br/>
            <a:r>
              <a:t>  "data": {</a:t>
            </a:r>
            <a:br/>
            <a:r>
              <a:t>    "token": "45|eyJhbGciOiJIUz...",</a:t>
            </a:r>
            <a:br/>
            <a:r>
              <a:t>    "employee": {</a:t>
            </a:r>
            <a:br/>
            <a:r>
              <a:t>      "nik": "3578012345670001",</a:t>
            </a:r>
            <a:br/>
            <a:r>
              <a:t>      "name": "Budi Santoso",</a:t>
            </a:r>
            <a:br/>
            <a:r>
              <a:t>      "company": "PT ATB",</a:t>
            </a:r>
            <a:br/>
            <a:r>
              <a:t>      "is_head_spv": true</a:t>
            </a:r>
            <a:br/>
            <a:r>
              <a:t>    },</a:t>
            </a:r>
            <a:br/>
            <a:r>
              <a:t>    "routing": {</a:t>
            </a:r>
            <a:br/>
            <a:r>
              <a:t>      "assigned_server": "SERVER_2",</a:t>
            </a:r>
            <a:br/>
            <a:r>
              <a:t>      "api_base_url": "https://atb.esagroups.id/api",</a:t>
            </a:r>
            <a:br/>
            <a:r>
              <a:t>      "media_cdn_url": "https://storage.esagroups.id"</a:t>
            </a:r>
            <a:br/>
            <a:r>
              <a:t>    }</a:t>
            </a:r>
            <a:br/>
            <a:r>
              <a:t>  }</a:t>
            </a:r>
            <a:br/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WORKFLOW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Hierarki Atasan Lintas Entitas (Cross-Entity Hierarchy)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Menangani approval Cuti, Izin, Lembur, dan Monitoring Karyawan yang memiliki Head/SPV di entitas berbeda.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38BDF8"/>
                </a:solidFill>
              </a:defRPr>
            </a:pPr>
            <a:r>
              <a:t>1. Identifikasi Relasi via NIK Global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Struktur atasan-bawahan dihubungkan menggunakan NIK Karyawan. Jika staf di PT ATB (Server 2) memiliki atasan di PT AMK (Server 1), data mencatat `supervisor_nik = [NIK_SPV_AMK]`.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34D399"/>
                </a:solidFill>
              </a:defRPr>
            </a:pPr>
            <a:r>
              <a:t>2. Delegasi Notifikasi Approval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Saat staf mengajukan Izin/Cuti/Lembur, event approval diteruskan ke SPV via jalur Private Network (Inter-VPC). Notifikasi langsung muncul di aplikasi mobile SPV secara real-time.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FBBF24"/>
                </a:solidFill>
              </a:defRPr>
            </a:pPr>
            <a:r>
              <a:t>3. Single Dashboard Tim bagi SPV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SPV di Server 1 dapat melihat daftar kehadiran dan live tracking seluruh anggotanya (baik anggota dari AMK, ATB, maupun AKP) dalam 1 layar dashboard terpadu tanpa harus berganti akun.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4023360"/>
            <a:ext cx="5212080" cy="2103120"/>
          </a:xfrm>
          <a:prstGeom prst="roundRect">
            <a:avLst/>
          </a:prstGeom>
          <a:solidFill>
            <a:srgbClr val="14203C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50" b="1">
                <a:solidFill>
                  <a:srgbClr val="A855F7"/>
                </a:solidFill>
              </a:defRPr>
            </a:pPr>
            <a:r>
              <a:t>4. Callback Status Otomatis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Ketika SPV mengklik tombol Approve / Reject, sistem mengupdate status presensi bawahan di server asalnya seketika dan mengirimkan push notification ke staf.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CLIENT REPORTING PORTAL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Subdomain Khusus Pelaporan &amp; Monitoring Prinsiple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Portal white-label mandiri bagi prinsiple/klien (Dulux, Fonterra, Wings, dll) dengan akses data terisolasi.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47548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200" b="1">
                <a:solidFill>
                  <a:srgbClr val="34D399"/>
                </a:solidFill>
              </a:defRPr>
            </a:pPr>
            <a:r>
              <a:t>FITUR PORTAL SUBDOMAIN PRINSIPLE: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Wildcard DNS (*.esagroups.id)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Cukup 1 konfigurasi DNS wildcard; setiap prinsiple baru otomatis langsung aktif subdomainnya tanpa konfigurasi DNS ulang.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White-Label Branding Eksklusif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Logo, tema warna, dan nama prinsiple disesuaikan otomatis saat subdomain dibuka (misal: dulux.esagroups.id atau fonterra.esagroups.id).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Data Privacy &amp; Strict Isolation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Klien HANYA dapat melihat absensi, rute kunjungan toko, dan laporan sales karyawan yang ditempatkan di produk mereka.</a:t>
            </a:r>
          </a:p>
          <a:p>
            <a:pPr>
              <a:spcBef>
                <a:spcPts val="800"/>
              </a:spcBef>
              <a:defRPr sz="1050" b="1">
                <a:solidFill>
                  <a:srgbClr val="FFFFFF"/>
                </a:solidFill>
              </a:defRPr>
            </a:pPr>
            <a:r>
              <a:t>• Self-Service Export Excel / PDF</a:t>
            </a:r>
          </a:p>
          <a:p>
            <a:pPr>
              <a:spcBef>
                <a:spcPts val="200"/>
              </a:spcBef>
              <a:defRPr sz="950">
                <a:solidFill>
                  <a:srgbClr val="94A3B8"/>
                </a:solidFill>
              </a:defRPr>
            </a:pPr>
            <a:r>
              <a:t>   Prinsiple dapat mengunduh rekapitulasi kehadiran dan bukti foto display toko secara mandiri kapan saja.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45920"/>
            <a:ext cx="4876495" cy="4754880"/>
          </a:xfrm>
          <a:prstGeom prst="roundRect">
            <a:avLst/>
          </a:prstGeom>
          <a:solidFill>
            <a:srgbClr val="0F172A"/>
          </a:solidFill>
          <a:ln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100" b="1">
                <a:solidFill>
                  <a:srgbClr val="38BDF8"/>
                </a:solidFill>
              </a:defRPr>
            </a:pPr>
            <a:r>
              <a:t>CONTOH PEMETAAN SUBDOMAIN KLIEN: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https://dulux.esagroups.id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Khusus AkzoNobel / Dulux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https://fonterra.esagroups.id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Anchor, Anlene, Boneeto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https://wings.esagroups.id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Multi-Entitas Wings Group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https://sidomuncul.esagroups.id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PT Sido Muncul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https://unilever.esagroups.id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FMCG Unilever</a:t>
            </a:r>
          </a:p>
          <a:p>
            <a:pPr>
              <a:spcBef>
                <a:spcPts val="700"/>
              </a:spcBef>
              <a:defRPr sz="1000" b="1">
                <a:solidFill>
                  <a:srgbClr val="38BDF8"/>
                </a:solidFill>
              </a:defRPr>
            </a:pPr>
            <a:r>
              <a:t>🌐 https://kalbe.esagroups.id</a:t>
            </a:r>
          </a:p>
          <a:p>
            <a:pPr>
              <a:defRPr sz="900">
                <a:solidFill>
                  <a:srgbClr val="FFFFFF"/>
                </a:solidFill>
              </a:defRPr>
            </a:pPr>
            <a:r>
              <a:t>   Portal Reporting Divisi Pharma &amp; Nutrition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dirty="0"/>
              <a:t>Rangkuman </a:t>
            </a:r>
            <a:r>
              <a:rPr dirty="0" err="1"/>
              <a:t>Eksekutif</a:t>
            </a:r>
            <a:r>
              <a:rPr dirty="0"/>
              <a:t> &amp; Rencana </a:t>
            </a:r>
            <a:r>
              <a:rPr dirty="0" err="1"/>
              <a:t>Tindak</a:t>
            </a:r>
            <a:r>
              <a:rPr dirty="0"/>
              <a:t> Lanjut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Arsitektur 3 server siap dieksekusi untuk menjamin operasional presensi 23.511 karyawan tanpa kendala.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⚡ Bebas Bottleneck 100%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Beban puncak presensi pagi &amp; sore (500–800 RPS) terbagi rata di 3 mesin independen. Menghilangkan risiko server down atau antrean database.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📱 UX Karyawan Mulus (Seamless)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Karyawan cukup login dengan NIK di aplikasi mobile; routing server bekerja otomatis di latar belakang tanpa repot memilih URL.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4203C"/>
          </a:solidFill>
          <a:ln w="12700">
            <a:solidFill>
              <a:srgbClr val="2D44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8BDF8"/>
                </a:solidFill>
              </a:defRPr>
            </a:pPr>
            <a:r>
              <a:t>🛡️ Data Aman &amp; Laporan Mandiri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Data tiap grup entitas dan klien prinsiple terisolasi rapi. Klien dapat memantau dan mendownload laporan presensi kapan saja via subdomain resmi.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4203C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rtlCol="0" anchor="ctr"/>
          <a:lstStyle/>
          <a:p>
            <a:pPr algn="ctr">
              <a:defRPr sz="1300" b="1">
                <a:solidFill>
                  <a:srgbClr val="34D399"/>
                </a:solidFill>
              </a:defRPr>
            </a:pPr>
            <a:r>
              <a:t>💰 Investasi Efisien &amp; Terukur</a:t>
            </a:r>
          </a:p>
          <a:p>
            <a:pPr>
              <a:spcBef>
                <a:spcPts val="800"/>
              </a:spcBef>
              <a:defRPr sz="1000">
                <a:solidFill>
                  <a:srgbClr val="E2E8F0"/>
                </a:solidFill>
              </a:defRPr>
            </a:pPr>
            <a:r>
              <a:t>Total biaya Rp 4.100.000 / bulan sudah mencakup 3 unit Dedicated Cloud VPS, Gratis 300 GB S3 Object Storage, dan Free 3 Domain .cloud.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580DDC-B6F6-E4EF-6FE4-2F5E26CF45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9797" y="662805"/>
            <a:ext cx="5893367" cy="59122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5CCDE8E-B0EA-39DF-6506-B0FAD4CB3D1B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1 – PT ARINA MULTI KARYA (AMK)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4822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EC914-913C-46C0-9684-D729B58D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8258E7-D11F-629A-608F-6FC46A5BA8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139797" y="798117"/>
            <a:ext cx="5893367" cy="56416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96D59EB-1AE3-399B-DDC1-657FB7694007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2 – PT ALVA KARYA PERKASA (AKP)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6214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3D9E3-B8CA-C9DC-255A-A51E284D0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053F01-0879-8966-39F1-F395BA6D81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253667" y="798117"/>
            <a:ext cx="5665627" cy="564167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854E9CE-CF1F-444F-3D6E-4B4F9A617D87}"/>
              </a:ext>
            </a:extLst>
          </p:cNvPr>
          <p:cNvSpPr txBox="1"/>
          <p:nvPr/>
        </p:nvSpPr>
        <p:spPr>
          <a:xfrm>
            <a:off x="371302" y="279203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3 – GABUNGAN (ATK, ABO, ATB)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0778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2805E2-96E3-F5D2-E0D0-86A7D904F4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3751"/>
            <a:ext cx="12192000" cy="22684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2F3C4C-DF11-11AB-153C-32EBCC8B6F72}"/>
              </a:ext>
            </a:extLst>
          </p:cNvPr>
          <p:cNvSpPr txBox="1"/>
          <p:nvPr/>
        </p:nvSpPr>
        <p:spPr>
          <a:xfrm>
            <a:off x="149629" y="205312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2 – PT ALVA KARYA PERKASA (AKP)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129055-21BC-3E00-A1F0-50B34C8A9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1" y="3674898"/>
            <a:ext cx="7868748" cy="2353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E31C85-2FCD-062C-D25B-D1A33ABA12C6}"/>
              </a:ext>
            </a:extLst>
          </p:cNvPr>
          <p:cNvSpPr txBox="1"/>
          <p:nvPr/>
        </p:nvSpPr>
        <p:spPr>
          <a:xfrm>
            <a:off x="74207" y="3336344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3 – GABUNGAN (ATK, ABO, ATB)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6709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CC8905-2E2B-26E7-D851-3C52B7F3E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3" y="986827"/>
            <a:ext cx="7440063" cy="23720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59DB9D8-423F-7348-B63A-CB5AFF19E383}"/>
              </a:ext>
            </a:extLst>
          </p:cNvPr>
          <p:cNvSpPr txBox="1"/>
          <p:nvPr/>
        </p:nvSpPr>
        <p:spPr>
          <a:xfrm>
            <a:off x="103823" y="543866"/>
            <a:ext cx="1069848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Server 1 – AMK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0E3891-8BBC-B6E4-495A-40CDB91BA1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98" y="3392675"/>
            <a:ext cx="5306165" cy="13622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8C402F-DEF1-72C6-7831-F93AE24C7730}"/>
              </a:ext>
            </a:extLst>
          </p:cNvPr>
          <p:cNvSpPr txBox="1"/>
          <p:nvPr/>
        </p:nvSpPr>
        <p:spPr>
          <a:xfrm>
            <a:off x="914400" y="5329382"/>
            <a:ext cx="19351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Password Root</a:t>
            </a:r>
          </a:p>
          <a:p>
            <a:r>
              <a:rPr lang="en-US" dirty="0"/>
              <a:t>AKP : esaakp@123</a:t>
            </a:r>
          </a:p>
          <a:p>
            <a:r>
              <a:rPr lang="en-US" dirty="0"/>
              <a:t>ATK : </a:t>
            </a:r>
            <a:r>
              <a:rPr lang="en-US" dirty="0" err="1"/>
              <a:t>serverATK</a:t>
            </a:r>
            <a:endParaRPr lang="en-US" dirty="0"/>
          </a:p>
          <a:p>
            <a:r>
              <a:rPr lang="en-US" dirty="0"/>
              <a:t>AMK : </a:t>
            </a:r>
            <a:r>
              <a:rPr lang="en-US" dirty="0" err="1"/>
              <a:t>serverAMK</a:t>
            </a:r>
            <a:endParaRPr lang="id-ID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10C8F5-ECA3-5D86-FA52-570ECA803D25}"/>
              </a:ext>
            </a:extLst>
          </p:cNvPr>
          <p:cNvSpPr txBox="1"/>
          <p:nvPr/>
        </p:nvSpPr>
        <p:spPr>
          <a:xfrm>
            <a:off x="3514725" y="4972492"/>
            <a:ext cx="353253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dirty="0" err="1"/>
              <a:t>ssh-rsa</a:t>
            </a:r>
            <a:r>
              <a:rPr lang="id-ID" dirty="0"/>
              <a:t> AAAAB3NzaC1yc2EAAAADAQABAAACAQD6qEhIT7to1HOYxJozuiQZfvqBxYTFxl719kHSNHzYiviRA/480FlsLQW7a6/jvL91CjhWwba/gLxBpZvE9BcLiUsw3lrj20rCO9/4/</a:t>
            </a:r>
            <a:r>
              <a:rPr lang="id-ID" dirty="0" err="1"/>
              <a:t>XbfpQML</a:t>
            </a:r>
            <a:r>
              <a:rPr lang="id-ID" dirty="0"/>
              <a:t>/ZhDhYM71sb2RMEYOVgGqeKYA8n9H37pNJvq/0ETchnFfgD5YBK6YbDv61AE0FWrES0SDvaLgKP0jX5wYiRiqdtcxVVlAwFjYdjpiuL4PgcZ1MlrsMSZPE3XlP4Su7zMS9WFL+Rs4BPuYoicyYDq0mCHqoJm4UaKU53n+ks3/5bzfzBRUjDDc9veL+SUT+uzJT+tDcQoYyKLHj7cdODBFwKBqudCH3bmXob0iO/c+jRF0EtFrHioLAeu//dGyfDBq9q278oDfKAWDedvijatIWMRoCglS0GqcgOAmDlNmUmhnrQHW8FtPkcMQmLmU9Vu1wGrmE2kBePDoBuvQ0vdR4qLIiuFJkMWRDFOyX+1eIO5DRf3JOJjriRXwJzH6dMNNqod6KmTbiJB0UC2IMIta66nii/JYH3tBO2pPQr50Ghnmj0+ZTCKx9l1Ww0JzKOU+TPfoZ4Hd3muXzh7pf803eg9JDCDlusf5mv4u+ETcGUQn2if7j3B9KxkodAeOTbSRwGHELp8md8irtSzRDpzQ+J7UsDyUH4HTX+CmpLmxRsH67mKpSlszEvdUvDy7w== root@VM-17-89-debian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F19C68-8188-C7D9-43A9-890E3ED2867F}"/>
              </a:ext>
            </a:extLst>
          </p:cNvPr>
          <p:cNvSpPr txBox="1"/>
          <p:nvPr/>
        </p:nvSpPr>
        <p:spPr>
          <a:xfrm>
            <a:off x="6905625" y="3762375"/>
            <a:ext cx="869813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 err="1"/>
              <a:t>mkdir</a:t>
            </a:r>
            <a:r>
              <a:rPr lang="id-ID" dirty="0"/>
              <a:t> -p ~/.</a:t>
            </a:r>
            <a:r>
              <a:rPr lang="id-ID" dirty="0" err="1"/>
              <a:t>ssh</a:t>
            </a:r>
            <a:r>
              <a:rPr lang="id-ID" dirty="0"/>
              <a:t> &amp;&amp; </a:t>
            </a:r>
            <a:r>
              <a:rPr lang="id-ID" dirty="0" err="1"/>
              <a:t>chmod</a:t>
            </a:r>
            <a:r>
              <a:rPr lang="id-ID" dirty="0"/>
              <a:t> 700 ~/.</a:t>
            </a:r>
            <a:r>
              <a:rPr lang="id-ID" dirty="0" err="1"/>
              <a:t>ssh</a:t>
            </a:r>
            <a:endParaRPr lang="id-ID" dirty="0"/>
          </a:p>
          <a:p>
            <a:r>
              <a:rPr lang="id-ID" dirty="0" err="1"/>
              <a:t>echo</a:t>
            </a:r>
            <a:r>
              <a:rPr lang="id-ID" dirty="0"/>
              <a:t> "</a:t>
            </a:r>
            <a:r>
              <a:rPr lang="id-ID" dirty="0" err="1"/>
              <a:t>ssh-rsa</a:t>
            </a:r>
            <a:r>
              <a:rPr lang="id-ID" dirty="0"/>
              <a:t> AAAAB3NzaC1yc2EAAAADAQABAAACAQD6qEhIT7to1HOYxJozuiQZfvqBxYTFxl719kHSNHzYiviRA/480FlsLQW7a6/jvL91CjhWwba/gLxBpZvE9BcLiUsw3lrj20rCO9/4/</a:t>
            </a:r>
            <a:r>
              <a:rPr lang="id-ID" dirty="0" err="1"/>
              <a:t>XbfpQML</a:t>
            </a:r>
            <a:r>
              <a:rPr lang="id-ID" dirty="0"/>
              <a:t>/ZhDhYM71sb2RMEYOVgGqeKYA8n9H37pNJvq/0ETchnFfgD5YBK6YbDv61AE0FWrES0SDvaLgKP0jX5wYiRiqdtcxVVlAwFjYdjpiuL4PgcZ1MlrsMSZPE3XlP4Su7zMS9WFL+Rs4BPuYoicyYDq0mCHqoJm4UaKU53n+ks3/5bzfzBRUjDDc9veL+SUT+uzJT+tDcQoYyKLHj7cdODBFwKBqudCH3bmXob0iO/c+jRF0EtFrHioLAeu//dGyfDBq9q278oDfKAWDedvijatIWMRoCglS0GqcgOAmDlNmUmhnrQHW8FtPkcMQmLmU9Vu1wGrmE2kBePDoBuvQ0vdR4qLIiuFJkMWRDFOyX+1eIO5DRf3JOJjriRXwJzH6dMNNqod6KmTbiJB0UC2IMIta66nii/JYH3tBO2pPQr50Ghnmj0+ZTCKx9l1Ww0JzKOU+TPfoZ4Hd3muXzh7pf803eg9JDCDlusf5mv4u+ETcGUQn2if7j3B9KxkodAeOTbSRwGHELp8md8irtSzRDpzQ+J7UsDyUH4HTX+CmpLmxRsH67mKpSlszEvdUvDy7w== root@VM-17-89-debian</a:t>
            </a:r>
          </a:p>
          <a:p>
            <a:r>
              <a:rPr lang="id-ID" dirty="0"/>
              <a:t>" &gt;&gt; ~/.</a:t>
            </a:r>
            <a:r>
              <a:rPr lang="id-ID" dirty="0" err="1"/>
              <a:t>ssh</a:t>
            </a:r>
            <a:r>
              <a:rPr lang="id-ID" dirty="0"/>
              <a:t>/</a:t>
            </a:r>
            <a:r>
              <a:rPr lang="id-ID" dirty="0" err="1"/>
              <a:t>authorized_keys</a:t>
            </a:r>
            <a:endParaRPr lang="id-ID" dirty="0"/>
          </a:p>
          <a:p>
            <a:r>
              <a:rPr lang="id-ID" dirty="0" err="1"/>
              <a:t>chmod</a:t>
            </a:r>
            <a:r>
              <a:rPr lang="id-ID" dirty="0"/>
              <a:t> 600 ~/.</a:t>
            </a:r>
            <a:r>
              <a:rPr lang="id-ID" dirty="0" err="1"/>
              <a:t>ssh</a:t>
            </a:r>
            <a:r>
              <a:rPr lang="id-ID" dirty="0"/>
              <a:t>/</a:t>
            </a:r>
            <a:r>
              <a:rPr lang="id-ID" dirty="0" err="1"/>
              <a:t>authorized_keys</a:t>
            </a:r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55776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81E43D-F63A-099A-D21D-3BF9EE169885}"/>
              </a:ext>
            </a:extLst>
          </p:cNvPr>
          <p:cNvSpPr txBox="1"/>
          <p:nvPr/>
        </p:nvSpPr>
        <p:spPr>
          <a:xfrm>
            <a:off x="230909" y="314036"/>
            <a:ext cx="1159965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cd /</a:t>
            </a:r>
            <a:r>
              <a:rPr lang="id-ID" dirty="0" err="1"/>
              <a:t>root</a:t>
            </a:r>
            <a:r>
              <a:rPr lang="id-ID" dirty="0"/>
              <a:t> &amp;&amp; </a:t>
            </a:r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</a:t>
            </a:r>
            <a:r>
              <a:rPr lang="id-ID" dirty="0" err="1"/>
              <a:t>att-repo-update</a:t>
            </a:r>
            <a:r>
              <a:rPr lang="id-ID" dirty="0"/>
              <a:t> &amp;&amp; </a:t>
            </a:r>
            <a:r>
              <a:rPr lang="id-ID" dirty="0" err="1"/>
              <a:t>git</a:t>
            </a:r>
            <a:r>
              <a:rPr lang="id-ID" dirty="0"/>
              <a:t> </a:t>
            </a:r>
            <a:r>
              <a:rPr lang="id-ID" dirty="0" err="1"/>
              <a:t>clone</a:t>
            </a:r>
            <a:r>
              <a:rPr lang="id-ID" dirty="0"/>
              <a:t> https://github.com/digitalgalery-dgsoft/attendaceesa.git 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/>
              <a:t>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r>
              <a:rPr lang="id-ID" dirty="0"/>
              <a:t>/att-admin-v12/. /</a:t>
            </a:r>
            <a:r>
              <a:rPr lang="id-ID" dirty="0" err="1"/>
              <a:t>www</a:t>
            </a:r>
            <a:r>
              <a:rPr lang="id-ID" dirty="0"/>
              <a:t>/</a:t>
            </a:r>
            <a:r>
              <a:rPr lang="id-ID" dirty="0" err="1"/>
              <a:t>wwwroot</a:t>
            </a:r>
            <a:r>
              <a:rPr lang="id-ID" dirty="0"/>
              <a:t>/amk.dgsoft.web.id/</a:t>
            </a:r>
          </a:p>
          <a:p>
            <a:r>
              <a:rPr lang="id-ID" dirty="0"/>
              <a:t>cd /www/wwwroot/amk.dgsoft.web.id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storage:link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livewire:publish</a:t>
            </a:r>
            <a:r>
              <a:rPr lang="id-ID" dirty="0"/>
              <a:t> --</a:t>
            </a:r>
            <a:r>
              <a:rPr lang="id-ID" dirty="0" err="1"/>
              <a:t>assets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mkdir</a:t>
            </a:r>
            <a:r>
              <a:rPr lang="id-ID" dirty="0"/>
              <a:t> -p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 &amp;&amp; 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vendor/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dist</a:t>
            </a:r>
            <a:r>
              <a:rPr lang="id-ID" dirty="0"/>
              <a:t>/*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-f </a:t>
            </a:r>
            <a:r>
              <a:rPr lang="id-ID" dirty="0" err="1"/>
              <a:t>public</a:t>
            </a:r>
            <a:r>
              <a:rPr lang="id-ID" dirty="0"/>
              <a:t>/hot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reporting:link-principals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optimize:clear</a:t>
            </a:r>
            <a:endParaRPr lang="id-ID" dirty="0"/>
          </a:p>
          <a:p>
            <a:r>
              <a:rPr lang="id-ID" dirty="0" err="1"/>
              <a:t>systemctl</a:t>
            </a:r>
            <a:r>
              <a:rPr lang="id-ID" dirty="0"/>
              <a:t> </a:t>
            </a:r>
            <a:r>
              <a:rPr lang="id-ID" dirty="0" err="1"/>
              <a:t>reload</a:t>
            </a:r>
            <a:r>
              <a:rPr lang="id-ID" dirty="0"/>
              <a:t> php-fpm-83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/</a:t>
            </a:r>
            <a:r>
              <a:rPr lang="id-ID" dirty="0" err="1"/>
              <a:t>etc</a:t>
            </a:r>
            <a:r>
              <a:rPr lang="id-ID" dirty="0"/>
              <a:t>/</a:t>
            </a:r>
            <a:r>
              <a:rPr lang="id-ID" dirty="0" err="1"/>
              <a:t>init.d</a:t>
            </a:r>
            <a:r>
              <a:rPr lang="id-ID" dirty="0"/>
              <a:t>/php-fpm-83 </a:t>
            </a:r>
            <a:r>
              <a:rPr lang="id-ID" dirty="0" err="1"/>
              <a:t>reload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 err="1"/>
              <a:t>echo</a:t>
            </a:r>
            <a:r>
              <a:rPr lang="id-ID" dirty="0"/>
              <a:t> "✅ SERVER 1 (AMK) SELESAI DIPERBARUI!"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78915-9CF6-6181-4BFC-4F080896ECC4}"/>
              </a:ext>
            </a:extLst>
          </p:cNvPr>
          <p:cNvSpPr txBox="1"/>
          <p:nvPr/>
        </p:nvSpPr>
        <p:spPr>
          <a:xfrm>
            <a:off x="314036" y="4082473"/>
            <a:ext cx="1159965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cd /</a:t>
            </a:r>
            <a:r>
              <a:rPr lang="id-ID" dirty="0" err="1"/>
              <a:t>root</a:t>
            </a:r>
            <a:r>
              <a:rPr lang="id-ID" dirty="0"/>
              <a:t> &amp;&amp; </a:t>
            </a:r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</a:t>
            </a:r>
            <a:r>
              <a:rPr lang="id-ID" dirty="0" err="1"/>
              <a:t>att-repo-update</a:t>
            </a:r>
            <a:r>
              <a:rPr lang="id-ID" dirty="0"/>
              <a:t> &amp;&amp; </a:t>
            </a:r>
            <a:r>
              <a:rPr lang="id-ID" dirty="0" err="1"/>
              <a:t>git</a:t>
            </a:r>
            <a:r>
              <a:rPr lang="id-ID" dirty="0"/>
              <a:t> </a:t>
            </a:r>
            <a:r>
              <a:rPr lang="id-ID" dirty="0" err="1"/>
              <a:t>clone</a:t>
            </a:r>
            <a:r>
              <a:rPr lang="id-ID" dirty="0"/>
              <a:t> https://github.com/digitalgalery-dgsoft/attendaceesa.git 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/>
              <a:t>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r>
              <a:rPr lang="id-ID" dirty="0"/>
              <a:t>/att-admin-v12/. /</a:t>
            </a:r>
            <a:r>
              <a:rPr lang="id-ID" dirty="0" err="1"/>
              <a:t>www</a:t>
            </a:r>
            <a:r>
              <a:rPr lang="id-ID" dirty="0"/>
              <a:t>/</a:t>
            </a:r>
            <a:r>
              <a:rPr lang="id-ID" dirty="0" err="1"/>
              <a:t>wwwroot</a:t>
            </a:r>
            <a:r>
              <a:rPr lang="id-ID" dirty="0"/>
              <a:t>/akp.dgsoft.web.id/</a:t>
            </a:r>
          </a:p>
          <a:p>
            <a:r>
              <a:rPr lang="id-ID" dirty="0"/>
              <a:t>cd /www/wwwroot/akp.dgsoft.web.id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storage:link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livewire:publish</a:t>
            </a:r>
            <a:r>
              <a:rPr lang="id-ID" dirty="0"/>
              <a:t> --</a:t>
            </a:r>
            <a:r>
              <a:rPr lang="id-ID" dirty="0" err="1"/>
              <a:t>assets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mkdir</a:t>
            </a:r>
            <a:r>
              <a:rPr lang="id-ID" dirty="0"/>
              <a:t> -p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 &amp;&amp; 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vendor/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dist</a:t>
            </a:r>
            <a:r>
              <a:rPr lang="id-ID" dirty="0"/>
              <a:t>/*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-f </a:t>
            </a:r>
            <a:r>
              <a:rPr lang="id-ID" dirty="0" err="1"/>
              <a:t>public</a:t>
            </a:r>
            <a:r>
              <a:rPr lang="id-ID" dirty="0"/>
              <a:t>/hot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reporting:link-principals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optimize:clear</a:t>
            </a:r>
            <a:endParaRPr lang="id-ID" dirty="0"/>
          </a:p>
          <a:p>
            <a:r>
              <a:rPr lang="id-ID" dirty="0" err="1"/>
              <a:t>systemctl</a:t>
            </a:r>
            <a:r>
              <a:rPr lang="id-ID" dirty="0"/>
              <a:t> </a:t>
            </a:r>
            <a:r>
              <a:rPr lang="id-ID" dirty="0" err="1"/>
              <a:t>reload</a:t>
            </a:r>
            <a:r>
              <a:rPr lang="id-ID" dirty="0"/>
              <a:t> php-fpm-83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/</a:t>
            </a:r>
            <a:r>
              <a:rPr lang="id-ID" dirty="0" err="1"/>
              <a:t>etc</a:t>
            </a:r>
            <a:r>
              <a:rPr lang="id-ID" dirty="0"/>
              <a:t>/</a:t>
            </a:r>
            <a:r>
              <a:rPr lang="id-ID" dirty="0" err="1"/>
              <a:t>init.d</a:t>
            </a:r>
            <a:r>
              <a:rPr lang="id-ID" dirty="0"/>
              <a:t>/php-fpm-83 </a:t>
            </a:r>
            <a:r>
              <a:rPr lang="id-ID" dirty="0" err="1"/>
              <a:t>reload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 err="1"/>
              <a:t>echo</a:t>
            </a:r>
            <a:r>
              <a:rPr lang="id-ID" dirty="0"/>
              <a:t> "✅ SERVER 2 (AKP) SELESAI DIPERBARUI!"</a:t>
            </a: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262421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5FBE5-1D10-05DA-B65D-3BBB97BCD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E406F8-1A42-7A8D-EEF9-B5FA7DA7B8AA}"/>
              </a:ext>
            </a:extLst>
          </p:cNvPr>
          <p:cNvSpPr txBox="1"/>
          <p:nvPr/>
        </p:nvSpPr>
        <p:spPr>
          <a:xfrm>
            <a:off x="296175" y="332510"/>
            <a:ext cx="11599650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cd /</a:t>
            </a:r>
            <a:r>
              <a:rPr lang="id-ID" dirty="0" err="1"/>
              <a:t>root</a:t>
            </a:r>
            <a:r>
              <a:rPr lang="id-ID" dirty="0"/>
              <a:t> &amp;&amp; </a:t>
            </a:r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</a:t>
            </a:r>
            <a:r>
              <a:rPr lang="id-ID" dirty="0" err="1"/>
              <a:t>att-repo-update</a:t>
            </a:r>
            <a:r>
              <a:rPr lang="id-ID" dirty="0"/>
              <a:t> &amp;&amp; </a:t>
            </a:r>
            <a:r>
              <a:rPr lang="id-ID" dirty="0" err="1"/>
              <a:t>git</a:t>
            </a:r>
            <a:r>
              <a:rPr lang="id-ID" dirty="0"/>
              <a:t> </a:t>
            </a:r>
            <a:r>
              <a:rPr lang="id-ID" dirty="0" err="1"/>
              <a:t>clone</a:t>
            </a:r>
            <a:r>
              <a:rPr lang="id-ID" dirty="0"/>
              <a:t> https://github.com/digitalgalery-dgsoft/attendaceesa.git 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/>
              <a:t>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r>
              <a:rPr lang="id-ID" dirty="0"/>
              <a:t>/att-admin-v12/. /</a:t>
            </a:r>
            <a:r>
              <a:rPr lang="id-ID" dirty="0" err="1"/>
              <a:t>www</a:t>
            </a:r>
            <a:r>
              <a:rPr lang="id-ID" dirty="0"/>
              <a:t>/</a:t>
            </a:r>
            <a:r>
              <a:rPr lang="id-ID" dirty="0" err="1"/>
              <a:t>wwwroot</a:t>
            </a:r>
            <a:r>
              <a:rPr lang="id-ID" dirty="0"/>
              <a:t>/akp.dgsoft.web.id/</a:t>
            </a:r>
          </a:p>
          <a:p>
            <a:r>
              <a:rPr lang="id-ID" dirty="0"/>
              <a:t>cd /www/wwwroot/akp.dgsoft.web.id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storage:link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livewire:publish</a:t>
            </a:r>
            <a:r>
              <a:rPr lang="id-ID" dirty="0"/>
              <a:t> --</a:t>
            </a:r>
            <a:r>
              <a:rPr lang="id-ID" dirty="0" err="1"/>
              <a:t>assets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mkdir</a:t>
            </a:r>
            <a:r>
              <a:rPr lang="id-ID" dirty="0"/>
              <a:t> -p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 &amp;&amp; 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vendor/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dist</a:t>
            </a:r>
            <a:r>
              <a:rPr lang="id-ID" dirty="0"/>
              <a:t>/*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-f </a:t>
            </a:r>
            <a:r>
              <a:rPr lang="id-ID" dirty="0" err="1"/>
              <a:t>public</a:t>
            </a:r>
            <a:r>
              <a:rPr lang="id-ID" dirty="0"/>
              <a:t>/hot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reporting:link-principals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optimize:clear</a:t>
            </a:r>
            <a:endParaRPr lang="id-ID" dirty="0"/>
          </a:p>
          <a:p>
            <a:r>
              <a:rPr lang="id-ID" dirty="0" err="1"/>
              <a:t>systemctl</a:t>
            </a:r>
            <a:r>
              <a:rPr lang="id-ID" dirty="0"/>
              <a:t> </a:t>
            </a:r>
            <a:r>
              <a:rPr lang="id-ID" dirty="0" err="1"/>
              <a:t>reload</a:t>
            </a:r>
            <a:r>
              <a:rPr lang="id-ID" dirty="0"/>
              <a:t> php-fpm-83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/</a:t>
            </a:r>
            <a:r>
              <a:rPr lang="id-ID" dirty="0" err="1"/>
              <a:t>etc</a:t>
            </a:r>
            <a:r>
              <a:rPr lang="id-ID" dirty="0"/>
              <a:t>/</a:t>
            </a:r>
            <a:r>
              <a:rPr lang="id-ID" dirty="0" err="1"/>
              <a:t>init.d</a:t>
            </a:r>
            <a:r>
              <a:rPr lang="id-ID" dirty="0"/>
              <a:t>/php-fpm-83 </a:t>
            </a:r>
            <a:r>
              <a:rPr lang="id-ID" dirty="0" err="1"/>
              <a:t>reload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 err="1"/>
              <a:t>echo</a:t>
            </a:r>
            <a:r>
              <a:rPr lang="id-ID" dirty="0"/>
              <a:t> "✅ SERVER 2 (AKP) SELESAI DIPERBARUI!"</a:t>
            </a:r>
          </a:p>
          <a:p>
            <a:endParaRPr lang="id-ID" dirty="0"/>
          </a:p>
        </p:txBody>
      </p:sp>
    </p:spTree>
    <p:extLst>
      <p:ext uri="{BB962C8B-B14F-4D97-AF65-F5344CB8AC3E}">
        <p14:creationId xmlns:p14="http://schemas.microsoft.com/office/powerpoint/2010/main" val="1802598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46DB1-AAFA-640A-5772-7352A7706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D02CDB-2FFC-CD6C-CF5A-13794C463D4E}"/>
              </a:ext>
            </a:extLst>
          </p:cNvPr>
          <p:cNvSpPr txBox="1"/>
          <p:nvPr/>
        </p:nvSpPr>
        <p:spPr>
          <a:xfrm>
            <a:off x="296175" y="332510"/>
            <a:ext cx="11599650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d-ID" dirty="0"/>
              <a:t>cd /</a:t>
            </a:r>
            <a:r>
              <a:rPr lang="id-ID" dirty="0" err="1"/>
              <a:t>root</a:t>
            </a:r>
            <a:r>
              <a:rPr lang="id-ID" dirty="0"/>
              <a:t> &amp;&amp; </a:t>
            </a:r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</a:t>
            </a:r>
            <a:r>
              <a:rPr lang="id-ID" dirty="0" err="1"/>
              <a:t>att-repo-update</a:t>
            </a:r>
            <a:r>
              <a:rPr lang="id-ID" dirty="0"/>
              <a:t> &amp;&amp; </a:t>
            </a:r>
            <a:r>
              <a:rPr lang="id-ID" dirty="0" err="1"/>
              <a:t>git</a:t>
            </a:r>
            <a:r>
              <a:rPr lang="id-ID" dirty="0"/>
              <a:t> </a:t>
            </a:r>
            <a:r>
              <a:rPr lang="id-ID" dirty="0" err="1"/>
              <a:t>clone</a:t>
            </a:r>
            <a:r>
              <a:rPr lang="id-ID" dirty="0"/>
              <a:t> https://github.com/digitalgalery-dgsoft/attendaceesa.git 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/>
              <a:t>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r>
              <a:rPr lang="id-ID" dirty="0"/>
              <a:t>/att-admin-v12/. /</a:t>
            </a:r>
            <a:r>
              <a:rPr lang="id-ID" dirty="0" err="1"/>
              <a:t>www</a:t>
            </a:r>
            <a:r>
              <a:rPr lang="id-ID" dirty="0"/>
              <a:t>/</a:t>
            </a:r>
            <a:r>
              <a:rPr lang="id-ID" dirty="0" err="1"/>
              <a:t>wwwroot</a:t>
            </a:r>
            <a:r>
              <a:rPr lang="id-ID" dirty="0"/>
              <a:t>/atk.dgsoft.web.id/</a:t>
            </a:r>
          </a:p>
          <a:p>
            <a:r>
              <a:rPr lang="id-ID" dirty="0"/>
              <a:t>cd /www/wwwroot/atk.dgsoft.web.id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storage:link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livewire:publish</a:t>
            </a:r>
            <a:r>
              <a:rPr lang="id-ID" dirty="0"/>
              <a:t> --</a:t>
            </a:r>
            <a:r>
              <a:rPr lang="id-ID" dirty="0" err="1"/>
              <a:t>assets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mkdir</a:t>
            </a:r>
            <a:r>
              <a:rPr lang="id-ID" dirty="0"/>
              <a:t> -p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 &amp;&amp; \</a:t>
            </a:r>
            <a:r>
              <a:rPr lang="id-ID" dirty="0" err="1"/>
              <a:t>cp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vendor/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</a:t>
            </a:r>
            <a:r>
              <a:rPr lang="id-ID" dirty="0" err="1"/>
              <a:t>dist</a:t>
            </a:r>
            <a:r>
              <a:rPr lang="id-ID" dirty="0"/>
              <a:t>/* </a:t>
            </a:r>
            <a:r>
              <a:rPr lang="id-ID" dirty="0" err="1"/>
              <a:t>public</a:t>
            </a:r>
            <a:r>
              <a:rPr lang="id-ID" dirty="0"/>
              <a:t>/</a:t>
            </a:r>
            <a:r>
              <a:rPr lang="id-ID" dirty="0" err="1"/>
              <a:t>livewire</a:t>
            </a:r>
            <a:r>
              <a:rPr lang="id-ID" dirty="0"/>
              <a:t>/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-f </a:t>
            </a:r>
            <a:r>
              <a:rPr lang="id-ID" dirty="0" err="1"/>
              <a:t>public</a:t>
            </a:r>
            <a:r>
              <a:rPr lang="id-ID" dirty="0"/>
              <a:t>/hot</a:t>
            </a:r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reporting:link-principals</a:t>
            </a:r>
            <a:endParaRPr lang="id-ID" dirty="0"/>
          </a:p>
          <a:p>
            <a:r>
              <a:rPr lang="id-ID" dirty="0"/>
              <a:t>/</a:t>
            </a:r>
            <a:r>
              <a:rPr lang="id-ID" dirty="0" err="1"/>
              <a:t>www</a:t>
            </a:r>
            <a:r>
              <a:rPr lang="id-ID" dirty="0"/>
              <a:t>/server/</a:t>
            </a:r>
            <a:r>
              <a:rPr lang="id-ID" dirty="0" err="1"/>
              <a:t>php</a:t>
            </a:r>
            <a:r>
              <a:rPr lang="id-ID" dirty="0"/>
              <a:t>/83/bin/</a:t>
            </a:r>
            <a:r>
              <a:rPr lang="id-ID" dirty="0" err="1"/>
              <a:t>php</a:t>
            </a:r>
            <a:r>
              <a:rPr lang="id-ID" dirty="0"/>
              <a:t> artisan </a:t>
            </a:r>
            <a:r>
              <a:rPr lang="id-ID" dirty="0" err="1"/>
              <a:t>optimize:clear</a:t>
            </a:r>
            <a:endParaRPr lang="id-ID" dirty="0"/>
          </a:p>
          <a:p>
            <a:r>
              <a:rPr lang="id-ID" dirty="0" err="1"/>
              <a:t>systemctl</a:t>
            </a:r>
            <a:r>
              <a:rPr lang="id-ID" dirty="0"/>
              <a:t> </a:t>
            </a:r>
            <a:r>
              <a:rPr lang="id-ID" dirty="0" err="1"/>
              <a:t>reload</a:t>
            </a:r>
            <a:r>
              <a:rPr lang="id-ID" dirty="0"/>
              <a:t> php-fpm-83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/</a:t>
            </a:r>
            <a:r>
              <a:rPr lang="id-ID" dirty="0" err="1"/>
              <a:t>etc</a:t>
            </a:r>
            <a:r>
              <a:rPr lang="id-ID" dirty="0"/>
              <a:t>/</a:t>
            </a:r>
            <a:r>
              <a:rPr lang="id-ID" dirty="0" err="1"/>
              <a:t>init.d</a:t>
            </a:r>
            <a:r>
              <a:rPr lang="id-ID" dirty="0"/>
              <a:t>/php-fpm-83 </a:t>
            </a:r>
            <a:r>
              <a:rPr lang="id-ID" dirty="0" err="1"/>
              <a:t>reload</a:t>
            </a:r>
            <a:r>
              <a:rPr lang="id-ID" dirty="0"/>
              <a:t> 2&gt;/</a:t>
            </a:r>
            <a:r>
              <a:rPr lang="id-ID" dirty="0" err="1"/>
              <a:t>dev</a:t>
            </a:r>
            <a:r>
              <a:rPr lang="id-ID" dirty="0"/>
              <a:t>/</a:t>
            </a:r>
            <a:r>
              <a:rPr lang="id-ID" dirty="0" err="1"/>
              <a:t>null</a:t>
            </a:r>
            <a:r>
              <a:rPr lang="id-ID" dirty="0"/>
              <a:t> || </a:t>
            </a:r>
            <a:r>
              <a:rPr lang="id-ID" dirty="0" err="1"/>
              <a:t>true</a:t>
            </a:r>
            <a:endParaRPr lang="id-ID" dirty="0"/>
          </a:p>
          <a:p>
            <a:r>
              <a:rPr lang="id-ID" dirty="0" err="1"/>
              <a:t>rm</a:t>
            </a:r>
            <a:r>
              <a:rPr lang="id-ID" dirty="0"/>
              <a:t> -</a:t>
            </a:r>
            <a:r>
              <a:rPr lang="id-ID" dirty="0" err="1"/>
              <a:t>rf</a:t>
            </a:r>
            <a:r>
              <a:rPr lang="id-ID" dirty="0"/>
              <a:t> /</a:t>
            </a:r>
            <a:r>
              <a:rPr lang="id-ID" dirty="0" err="1"/>
              <a:t>root</a:t>
            </a:r>
            <a:r>
              <a:rPr lang="id-ID" dirty="0"/>
              <a:t>/</a:t>
            </a:r>
            <a:r>
              <a:rPr lang="id-ID" dirty="0" err="1"/>
              <a:t>att-repo-update</a:t>
            </a:r>
            <a:endParaRPr lang="id-ID" dirty="0"/>
          </a:p>
          <a:p>
            <a:r>
              <a:rPr lang="id-ID" dirty="0" err="1"/>
              <a:t>echo</a:t>
            </a:r>
            <a:r>
              <a:rPr lang="id-ID" dirty="0"/>
              <a:t> "✅ SERVER 3 (ATK) SELESAI DIPERBARUI!"</a:t>
            </a:r>
          </a:p>
        </p:txBody>
      </p:sp>
    </p:spTree>
    <p:extLst>
      <p:ext uri="{BB962C8B-B14F-4D97-AF65-F5344CB8AC3E}">
        <p14:creationId xmlns:p14="http://schemas.microsoft.com/office/powerpoint/2010/main" val="13860638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</TotalTime>
  <Words>2744</Words>
  <Application>Microsoft Office PowerPoint</Application>
  <PresentationFormat>Widescreen</PresentationFormat>
  <Paragraphs>176</Paragraphs>
  <Slides>16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Abdurrahman Jamil</cp:lastModifiedBy>
  <cp:revision>5</cp:revision>
  <dcterms:created xsi:type="dcterms:W3CDTF">2013-01-27T09:14:16Z</dcterms:created>
  <dcterms:modified xsi:type="dcterms:W3CDTF">2026-09-02T10:52:23Z</dcterms:modified>
  <cp:category/>
</cp:coreProperties>
</file>