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280160" y="1188720"/>
            <a:ext cx="5029200" cy="41148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PANDUAN TEKNIS &amp; SOP AAPANEL •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828800"/>
            <a:ext cx="9601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Panduan Arsitektur &amp; Setting 3 Server (aaPanel)</a:t>
            </a:r>
          </a:p>
          <a:p>
            <a:pPr>
              <a:spcBef>
                <a:spcPts val="800"/>
              </a:spcBef>
              <a:defRPr sz="1800" b="1">
                <a:solidFill>
                  <a:srgbClr val="34D399"/>
                </a:solidFill>
              </a:defRPr>
            </a:pPr>
            <a:r>
              <a:t>Aplikasi Presensi Mobile &amp; Pelaporan Lapangan (ESA Groups - 23.511 Karyawan)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</a:defRPr>
            </a:pPr>
            <a:r>
              <a:t>SOP Lengkap Konfigurasi aaPanel (LNMP Stack, PHP 8.2 Tuning, Supervisor, Cron Job Odoo, &amp; Dynamic Routing)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4389120"/>
            <a:ext cx="9601200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tlCol="0" anchor="ctr"/>
          <a:lstStyle/>
          <a:p>
            <a:pPr algn="ctr">
              <a:defRPr sz="1100" b="1">
                <a:solidFill>
                  <a:srgbClr val="FBBF24"/>
                </a:solidFill>
              </a:defRPr>
            </a:pPr>
            <a:r>
              <a:t>CAKUPAN PANDUAN DEPLOYMENT AAPANEL: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1. Setup LNMP (Nginx 1.24, PHP 8.2-FPM, PostgreSQL/MySQL, Redis 7, Supervisor Process Manager)</a:t>
            </a:r>
          </a:p>
          <a:p>
            <a:pPr>
              <a:spcBef>
                <a:spcPts val="200"/>
              </a:spcBef>
              <a:defRPr sz="1000">
                <a:solidFill>
                  <a:srgbClr val="38BDF8"/>
                </a:solidFill>
              </a:defRPr>
            </a:pPr>
            <a:r>
              <a:t>2. Konfigurasi Website, Document Root /public, URL Rewrite Laravel, dan SSL Let's Encrypt Wildcard (*.esagroups.id)</a:t>
            </a:r>
          </a:p>
          <a:p>
            <a:pPr>
              <a:spcBef>
                <a:spcPts val="200"/>
              </a:spcBef>
              <a:defRPr sz="1000">
                <a:solidFill>
                  <a:srgbClr val="34D399"/>
                </a:solidFill>
              </a:defRPr>
            </a:pPr>
            <a:r>
              <a:t>3. Setting Dynamic Routing Mobile App, Hierarki SPV Lintas Entitas, dan Cron Background Sync Odoo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DESAIN INFRASTRUKTUR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Topologi Jaringan &amp; Multi-Instance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Pemisahan komputasi independen yang terhubung melalui Private Local Network (Inter-VPC).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13455" cy="347472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SERVER 1: PT AMK</a:t>
            </a:r>
          </a:p>
          <a:p>
            <a:pPr>
              <a:spcBef>
                <a:spcPts val="300"/>
              </a:spcBef>
              <a:defRPr sz="1000" b="1">
                <a:solidFill>
                  <a:srgbClr val="FFFFFF"/>
                </a:solidFill>
              </a:defRPr>
            </a:pPr>
            <a:r>
              <a:t>Single Entity (11.687 Karyawan)</a:t>
            </a:r>
          </a:p>
          <a:p>
            <a:pPr>
              <a:spcBef>
                <a:spcPts val="800"/>
              </a:spcBef>
              <a:defRPr sz="950">
                <a:solidFill>
                  <a:srgbClr val="38BDF8"/>
                </a:solidFill>
              </a:defRPr>
            </a:pPr>
            <a:r>
              <a:t>Public: amk.esagroups.id</a:t>
            </a:r>
            <a:br/>
            <a:r>
              <a:t>Private VPC: 10.0.1.10</a:t>
            </a:r>
          </a:p>
          <a:p>
            <a:pPr>
              <a:spcBef>
                <a:spcPts val="800"/>
              </a:spcBef>
              <a:defRPr sz="950">
                <a:solidFill>
                  <a:srgbClr val="E2E8F0"/>
                </a:solidFill>
              </a:defRPr>
            </a:pPr>
            <a:r>
              <a:t>• Web Admin &amp; API Engine PT AMK</a:t>
            </a:r>
            <a:br/>
            <a:r>
              <a:t>• High RAM for Database Buffer</a:t>
            </a:r>
            <a:br/>
            <a:r>
              <a:t>• Odoo Sync Processor AMK</a:t>
            </a:r>
            <a:br/>
            <a:r>
              <a:t>• Offload Foto ke S3 Bucket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13455" cy="347472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SERVER 2: ATB+ATK+ABO</a:t>
            </a:r>
          </a:p>
          <a:p>
            <a:pPr>
              <a:spcBef>
                <a:spcPts val="300"/>
              </a:spcBef>
              <a:defRPr sz="1000" b="1">
                <a:solidFill>
                  <a:srgbClr val="FFFFFF"/>
                </a:solidFill>
              </a:defRPr>
            </a:pPr>
            <a:r>
              <a:t>Multi-Tenant (7.424 Karyawan)</a:t>
            </a:r>
          </a:p>
          <a:p>
            <a:pPr>
              <a:spcBef>
                <a:spcPts val="800"/>
              </a:spcBef>
              <a:defRPr sz="950">
                <a:solidFill>
                  <a:srgbClr val="38BDF8"/>
                </a:solidFill>
              </a:defRPr>
            </a:pPr>
            <a:r>
              <a:t>Public: atb.esagroups.id</a:t>
            </a:r>
            <a:br/>
            <a:r>
              <a:t>Private VPC: 10.0.1.20</a:t>
            </a:r>
          </a:p>
          <a:p>
            <a:pPr>
              <a:spcBef>
                <a:spcPts val="800"/>
              </a:spcBef>
              <a:defRPr sz="950">
                <a:solidFill>
                  <a:srgbClr val="E2E8F0"/>
                </a:solidFill>
              </a:defRPr>
            </a:pPr>
            <a:r>
              <a:t>• Web Admin &amp; API Engine 3 PT</a:t>
            </a:r>
            <a:br/>
            <a:r>
              <a:t>• Multi-Tenant Schema Isolation</a:t>
            </a:r>
            <a:br/>
            <a:r>
              <a:t>• Odoo Sync ATB, ATK, ABO</a:t>
            </a:r>
            <a:br/>
            <a:r>
              <a:t>• Offload Foto ke S3 Bucket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13455" cy="347472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400" b="1">
                <a:solidFill>
                  <a:srgbClr val="FBBF24"/>
                </a:solidFill>
              </a:defRPr>
            </a:pPr>
            <a:r>
              <a:t>SERVER 3: PT AKP</a:t>
            </a:r>
          </a:p>
          <a:p>
            <a:pPr>
              <a:spcBef>
                <a:spcPts val="300"/>
              </a:spcBef>
              <a:defRPr sz="1000" b="1">
                <a:solidFill>
                  <a:srgbClr val="FFFFFF"/>
                </a:solidFill>
              </a:defRPr>
            </a:pPr>
            <a:r>
              <a:t>Single Entity (4.400 Karyawan)</a:t>
            </a:r>
          </a:p>
          <a:p>
            <a:pPr>
              <a:spcBef>
                <a:spcPts val="800"/>
              </a:spcBef>
              <a:defRPr sz="950">
                <a:solidFill>
                  <a:srgbClr val="38BDF8"/>
                </a:solidFill>
              </a:defRPr>
            </a:pPr>
            <a:r>
              <a:t>Public: akp.esagroups.id</a:t>
            </a:r>
            <a:br/>
            <a:r>
              <a:t>Private VPC: 10.0.1.30</a:t>
            </a:r>
          </a:p>
          <a:p>
            <a:pPr>
              <a:spcBef>
                <a:spcPts val="800"/>
              </a:spcBef>
              <a:defRPr sz="950">
                <a:solidFill>
                  <a:srgbClr val="E2E8F0"/>
                </a:solidFill>
              </a:defRPr>
            </a:pPr>
            <a:r>
              <a:t>• Web Admin &amp; API Engine PT AKP</a:t>
            </a:r>
            <a:br/>
            <a:r>
              <a:t>• Standar High-Performance VPS</a:t>
            </a:r>
            <a:br/>
            <a:r>
              <a:t>• Odoo Sync Processor AKP</a:t>
            </a:r>
            <a:br/>
            <a:r>
              <a:t>• Offload Foto ke S3 Bucket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728655" cy="1097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tlCol="0" anchor="ctr"/>
          <a:lstStyle/>
          <a:p>
            <a:pPr algn="ctr">
              <a:defRPr sz="1050" b="1">
                <a:solidFill>
                  <a:srgbClr val="A855F7"/>
                </a:solidFill>
              </a:defRPr>
            </a:pPr>
            <a:r>
              <a:t>🔗 JALUR KOMUNIKASI DATA (INTER-VPC PRIVATE NETWORK &amp; OBJECT STORAGE):</a:t>
            </a:r>
          </a:p>
          <a:p>
            <a:pPr>
              <a:spcBef>
                <a:spcPts val="300"/>
              </a:spcBef>
              <a:defRPr sz="950">
                <a:solidFill>
                  <a:srgbClr val="FFFFFF"/>
                </a:solidFill>
              </a:defRPr>
            </a:pPr>
            <a:r>
              <a:t>• Ketiga server berada di Data Center yang sama dan terhubung via Local Private IP (10.0.1.x) dengan kecepatan 10 Gbps (Latensi &lt; 1ms).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• Media foto selfie presensi dan bukti kunjungan diunggah ke S3-Compatible Object Storage (Gratis 3x 100 GB) sehingga dapat diakses bersama secara instan.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SOP KONFIGURASI SERVER (BAGIAN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Panduan Instalasi aaPanel &amp; Konfigurasi LNMP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Tahapan penyiapan environment pada Ubuntu 22.04 LTS hingga siap digunakan.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1097280"/>
          </a:xfrm>
          <a:prstGeom prst="roundRect">
            <a:avLst/>
          </a:prstGeom>
          <a:solidFill>
            <a:srgbClr val="14203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1. Instalasi aaPanel di Ubuntu 22.04</a:t>
            </a:r>
          </a:p>
          <a:p>
            <a:pPr>
              <a:spcBef>
                <a:spcPts val="400"/>
              </a:spcBef>
              <a:defRPr sz="1000">
                <a:solidFill>
                  <a:srgbClr val="E2E8F0"/>
                </a:solidFill>
              </a:defRPr>
            </a:pPr>
            <a:r>
              <a:t>Eksekusi one-line script instalasi resmi aaPanel via terminal SSH: `wget -O install.sh http://www.aapanel.com/script/install-ubuntu_6.0_en.sh &amp;&amp; sudo bash install.sh aapanel`.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10728655" cy="1097280"/>
          </a:xfrm>
          <a:prstGeom prst="roundRect">
            <a:avLst/>
          </a:prstGeom>
          <a:solidFill>
            <a:srgbClr val="0F172A"/>
          </a:solidFill>
          <a:ln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2. Instalasi Paket LNMP (App Store)</a:t>
            </a:r>
          </a:p>
          <a:p>
            <a:pPr>
              <a:spcBef>
                <a:spcPts val="400"/>
              </a:spcBef>
              <a:defRPr sz="1000">
                <a:solidFill>
                  <a:srgbClr val="E2E8F0"/>
                </a:solidFill>
              </a:defRPr>
            </a:pPr>
            <a:r>
              <a:t>Pilih stack: Nginx 1.24+, PHP 8.2 (Wajib), PostgreSQL 15 / MySQL 8.0, Redis 7.0+, dan Supervisor Process Manager.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10728655" cy="1097280"/>
          </a:xfrm>
          <a:prstGeom prst="roundRect">
            <a:avLst/>
          </a:prstGeom>
          <a:solidFill>
            <a:srgbClr val="14203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3. Instalasi Ekstensi PHP 8.2</a:t>
            </a:r>
          </a:p>
          <a:p>
            <a:pPr>
              <a:spcBef>
                <a:spcPts val="400"/>
              </a:spcBef>
              <a:defRPr sz="1000">
                <a:solidFill>
                  <a:srgbClr val="E2E8F0"/>
                </a:solidFill>
              </a:defRPr>
            </a:pPr>
            <a:r>
              <a:t>Masuk ke PHP 8.2 Settings &gt; Install Extensions: Wajib install `fileinfo`, `redis`, `pgsql`/`pdo_pgsql`, `gd`, `zip`, `xmlrpc`, `bcmath`, dan `opcache`.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212080"/>
            <a:ext cx="10728655" cy="1097280"/>
          </a:xfrm>
          <a:prstGeom prst="roundRect">
            <a:avLst/>
          </a:prstGeom>
          <a:solidFill>
            <a:srgbClr val="0F172A"/>
          </a:solidFill>
          <a:ln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4. Tuning Performa PHP (php.ini)</a:t>
            </a:r>
          </a:p>
          <a:p>
            <a:pPr>
              <a:spcBef>
                <a:spcPts val="400"/>
              </a:spcBef>
              <a:defRPr sz="1000">
                <a:solidFill>
                  <a:srgbClr val="E2E8F0"/>
                </a:solidFill>
              </a:defRPr>
            </a:pPr>
            <a:r>
              <a:t>Atur nilai: `memory_limit = 1024M`, `upload_max_filesize = 50M`, `post_max_size = 50M`, `max_execution_time = 300`, `max_input_vars = 5000`.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SOP KONFIGURASI SERVER (BAGIAN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Setting Website, SSL Wildcard, Supervisor &amp; Cron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Langkah deploy kode aplikasi, SSL otomatis, dan otomatisasi task background.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868680"/>
          </a:xfrm>
          <a:prstGeom prst="roundRect">
            <a:avLst/>
          </a:prstGeom>
          <a:solidFill>
            <a:srgbClr val="14203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1. Add Website &amp; Document Root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Buat website di aaPanel (misal `amk.esagroups.id` &amp; `*.amk.esagroups.id`). Set **Running Directory** ke `/public`. Set URL Rewrite ke preset `laravel5`.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06040"/>
            <a:ext cx="10728655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2. SSL Let's Encrypt Wildcard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Buka tab SSL &gt; Let's Encrypt &gt; centang domain dan subdomain &gt; Apply. Aktifkan toggle **Force HTTPS** untuk enkripsi penuh port 443.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566160"/>
            <a:ext cx="10728655" cy="868680"/>
          </a:xfrm>
          <a:prstGeom prst="roundRect">
            <a:avLst/>
          </a:prstGeom>
          <a:solidFill>
            <a:srgbClr val="14203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3. Clone Project &amp; Build Cache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Di terminal: `git clone ...`, `composer install --no-dev`, `cp .env.example .env`, `php artisan key:generate`, `php artisan migrate --force`, `php artisan optimize`.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526280"/>
            <a:ext cx="10728655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4. Supervisor Queue Worker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Di App Store &gt; Supervisor &gt; Add Daemon: Command `php artisan queue:work redis --sleep=3 --tries=3` dengan 4 worker paralel untuk antrean background email &amp; notifikasi.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486400"/>
            <a:ext cx="10728655" cy="868680"/>
          </a:xfrm>
          <a:prstGeom prst="roundRect">
            <a:avLst/>
          </a:prstGeom>
          <a:solidFill>
            <a:srgbClr val="14203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5. Setting Cron Job Dini Hari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Di menu Cron aaPanel: Tambah task setiap 1 menit (`php artisan schedule:run`) dan task jam 01:00 WIB (`php artisan odoo:sync-employees`).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MOBILE CLIENT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Skema URL &amp; Dynamic Server Routing pada Mobile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Karyawan cukup memasukkan NIK di aplikasi mobile; sistem otomatis merutekan traffic ke server yang tepat.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6217920" cy="475488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ALUR PENETAPAN URL DI APLIKASI MOBILE: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1. Single Gateway Entrypoint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Aplikasi mobile di-build dengan 1 domain default: https://api.esagroups.id. Karyawan TIDAK perlu memilih atau mengetik server manual.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2. Login &amp; Server Discovery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Karyawan input NIK &amp; Password. Gateway memeriksa entitas karyawan dan meneruskan verifikasi ke server entitas terkait.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3. Dynamic Endpoint Storing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Setelah login sukses, server mengembalikan API Base URL (misal https://atb.esagroups.id). Mobile app menyimpan endpoint ini di local secure storage.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4. Direct High-Speed Traffic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Seluruh transaksi presensi, selfie kamera, geofence GPS, dan visit report selanjutnya langsung dikirim ke server tujuan secara efisien.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45920"/>
            <a:ext cx="4327855" cy="475488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STRUKTUR RESPONSE AUTH (JSON):</a:t>
            </a:r>
          </a:p>
          <a:p>
            <a:pPr>
              <a:spcBef>
                <a:spcPts val="800"/>
              </a:spcBef>
              <a:defRPr sz="900">
                <a:solidFill>
                  <a:srgbClr val="A78BFA"/>
                </a:solidFill>
              </a:defRPr>
            </a:pPr>
            <a:r>
              <a:t>{</a:t>
            </a:r>
            <a:br/>
            <a:r>
              <a:t>  "status": "success",</a:t>
            </a:r>
            <a:br/>
            <a:r>
              <a:t>  "message": "Login berhasil",</a:t>
            </a:r>
            <a:br/>
            <a:r>
              <a:t>  "data": {</a:t>
            </a:r>
            <a:br/>
            <a:r>
              <a:t>    "token": "45|eyJhbGciOiJIUz...",</a:t>
            </a:r>
            <a:br/>
            <a:r>
              <a:t>    "employee": {</a:t>
            </a:r>
            <a:br/>
            <a:r>
              <a:t>      "nik": "3578012345670001",</a:t>
            </a:r>
            <a:br/>
            <a:r>
              <a:t>      "name": "Budi Santoso",</a:t>
            </a:r>
            <a:br/>
            <a:r>
              <a:t>      "company": "PT ATB",</a:t>
            </a:r>
            <a:br/>
            <a:r>
              <a:t>      "is_head_spv": true</a:t>
            </a:r>
            <a:br/>
            <a:r>
              <a:t>    },</a:t>
            </a:r>
            <a:br/>
            <a:r>
              <a:t>    "routing": {</a:t>
            </a:r>
            <a:br/>
            <a:r>
              <a:t>      "assigned_server": "SERVER_2",</a:t>
            </a:r>
            <a:br/>
            <a:r>
              <a:t>      "api_base_url": "https://atb.esagroups.id/api",</a:t>
            </a:r>
            <a:br/>
            <a:r>
              <a:t>      "media_cdn_url": "https://storage.esagroups.id"</a:t>
            </a:r>
            <a:br/>
            <a:r>
              <a:t>    }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WORKFLOW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Hierarki Atasan Lintas Entitas (Cross-Entity Hierarchy)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Menangani approval Cuti, Izin, Lembur, dan Monitoring Karyawan yang memiliki Head/SPV di entitas berbeda.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14203C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250" b="1">
                <a:solidFill>
                  <a:srgbClr val="38BDF8"/>
                </a:solidFill>
              </a:defRPr>
            </a:pPr>
            <a:r>
              <a:t>1. Identifikasi Relasi via NIK Global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Struktur atasan-bawahan dihubungkan menggunakan NIK Karyawan. Jika staf di PT ATB (Server 2) memiliki atasan di PT AMK (Server 1), data mencatat `supervisor_nik = [NIK_SPV_AMK]`.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14203C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250" b="1">
                <a:solidFill>
                  <a:srgbClr val="34D399"/>
                </a:solidFill>
              </a:defRPr>
            </a:pPr>
            <a:r>
              <a:t>2. Delegasi Notifikasi Approval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Saat staf mengajukan Izin/Cuti/Lembur, event approval diteruskan ke SPV via jalur Private Network (Inter-VPC). Notifikasi langsung muncul di aplikasi mobile SPV secara real-time.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5212080" cy="2103120"/>
          </a:xfrm>
          <a:prstGeom prst="roundRect">
            <a:avLst/>
          </a:prstGeom>
          <a:solidFill>
            <a:srgbClr val="14203C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250" b="1">
                <a:solidFill>
                  <a:srgbClr val="FBBF24"/>
                </a:solidFill>
              </a:defRPr>
            </a:pPr>
            <a:r>
              <a:t>3. Single Dashboard Tim bagi SPV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SPV di Server 1 dapat melihat daftar kehadiran dan live tracking seluruh anggotanya (baik anggota dari AMK, ATB, maupun AKP) dalam 1 layar dashboard terpadu tanpa harus berganti akun.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23360"/>
            <a:ext cx="5212080" cy="2103120"/>
          </a:xfrm>
          <a:prstGeom prst="roundRect">
            <a:avLst/>
          </a:prstGeom>
          <a:solidFill>
            <a:srgbClr val="14203C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250" b="1">
                <a:solidFill>
                  <a:srgbClr val="A855F7"/>
                </a:solidFill>
              </a:defRPr>
            </a:pPr>
            <a:r>
              <a:t>4. Callback Status Otomatis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Ketika SPV mengklik tombol Approve / Reject, sistem mengupdate status presensi bawahan di server asalnya seketika dan mengirimkan push notification ke staf.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CLIENT REPORTING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Subdomain Khusus Pelaporan &amp; Monitoring Prinsiple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Portal white-label mandiri bagi prinsiple/klien (Dulux, Fonterra, Wings, dll) dengan akses data terisolasi.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669280" cy="475488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200" b="1">
                <a:solidFill>
                  <a:srgbClr val="34D399"/>
                </a:solidFill>
              </a:defRPr>
            </a:pPr>
            <a:r>
              <a:t>FITUR PORTAL SUBDOMAIN PRINSIPLE: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Wildcard DNS (*.esagroups.id)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Cukup 1 konfigurasi DNS wildcard; setiap prinsiple baru otomatis langsung aktif subdomainnya tanpa konfigurasi DNS ulang.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White-Label Branding Eksklusif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Logo, tema warna, dan nama prinsiple disesuaikan otomatis saat subdomain dibuka (misal: dulux.esagroups.id atau fonterra.esagroups.id).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Data Privacy &amp; Strict Isolation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Klien HANYA dapat melihat absensi, rute kunjungan toko, dan laporan sales karyawan yang ditempatkan di produk mereka.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Self-Service Export Excel / PDF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Prinsiple dapat mengunduh rekapitulasi kehadiran dan bukti foto display toko secara mandiri kapan saja.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45920"/>
            <a:ext cx="4876495" cy="4754880"/>
          </a:xfrm>
          <a:prstGeom prst="roundRect">
            <a:avLst/>
          </a:prstGeom>
          <a:solidFill>
            <a:srgbClr val="0F172A"/>
          </a:solidFill>
          <a:ln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CONTOH PEMETAAN SUBDOMAIN KLIEN:</a:t>
            </a:r>
          </a:p>
          <a:p>
            <a:pPr>
              <a:spcBef>
                <a:spcPts val="700"/>
              </a:spcBef>
              <a:defRPr sz="1000" b="1">
                <a:solidFill>
                  <a:srgbClr val="38BDF8"/>
                </a:solidFill>
              </a:defRPr>
            </a:pPr>
            <a:r>
              <a:t>🌐 https://dulux.esagroups.id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 Portal Reporting Khusus AkzoNobel / Dulux</a:t>
            </a:r>
          </a:p>
          <a:p>
            <a:pPr>
              <a:spcBef>
                <a:spcPts val="700"/>
              </a:spcBef>
              <a:defRPr sz="1000" b="1">
                <a:solidFill>
                  <a:srgbClr val="38BDF8"/>
                </a:solidFill>
              </a:defRPr>
            </a:pPr>
            <a:r>
              <a:t>🌐 https://fonterra.esagroups.id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 Portal Reporting Anchor, Anlene, Boneeto</a:t>
            </a:r>
          </a:p>
          <a:p>
            <a:pPr>
              <a:spcBef>
                <a:spcPts val="700"/>
              </a:spcBef>
              <a:defRPr sz="1000" b="1">
                <a:solidFill>
                  <a:srgbClr val="38BDF8"/>
                </a:solidFill>
              </a:defRPr>
            </a:pPr>
            <a:r>
              <a:t>🌐 https://wings.esagroups.id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 Portal Reporting Multi-Entitas Wings Group</a:t>
            </a:r>
          </a:p>
          <a:p>
            <a:pPr>
              <a:spcBef>
                <a:spcPts val="700"/>
              </a:spcBef>
              <a:defRPr sz="1000" b="1">
                <a:solidFill>
                  <a:srgbClr val="38BDF8"/>
                </a:solidFill>
              </a:defRPr>
            </a:pPr>
            <a:r>
              <a:t>🌐 https://sidomuncul.esagroups.id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 Portal Reporting PT Sido Muncul</a:t>
            </a:r>
          </a:p>
          <a:p>
            <a:pPr>
              <a:spcBef>
                <a:spcPts val="700"/>
              </a:spcBef>
              <a:defRPr sz="1000" b="1">
                <a:solidFill>
                  <a:srgbClr val="38BDF8"/>
                </a:solidFill>
              </a:defRPr>
            </a:pPr>
            <a:r>
              <a:t>🌐 https://unilever.esagroups.id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 Portal Reporting FMCG Unilever</a:t>
            </a:r>
          </a:p>
          <a:p>
            <a:pPr>
              <a:spcBef>
                <a:spcPts val="700"/>
              </a:spcBef>
              <a:defRPr sz="1000" b="1">
                <a:solidFill>
                  <a:srgbClr val="38BDF8"/>
                </a:solidFill>
              </a:defRPr>
            </a:pPr>
            <a:r>
              <a:t>🌐 https://kalbe.esagroups.id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 Portal Reporting Divisi Pharma &amp; Nutrition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SUMMARY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dirty="0"/>
              <a:t>Rangkuman </a:t>
            </a:r>
            <a:r>
              <a:rPr dirty="0" err="1"/>
              <a:t>Eksekutif</a:t>
            </a:r>
            <a:r>
              <a:rPr dirty="0"/>
              <a:t> &amp; Rencana </a:t>
            </a:r>
            <a:r>
              <a:rPr dirty="0" err="1"/>
              <a:t>Tindak</a:t>
            </a:r>
            <a:r>
              <a:rPr dirty="0"/>
              <a:t> Lanjut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Arsitektur 3 server siap dieksekusi untuk menjamin operasional presensi 23.511 karyawan tanpa kendala.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14203C"/>
          </a:solidFill>
          <a:ln w="12700"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⚡ Bebas Bottleneck 100%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Beban puncak presensi pagi &amp; sore (500–800 RPS) terbagi rata di 3 mesin independen. Menghilangkan risiko server down atau antrean database.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14203C"/>
          </a:solidFill>
          <a:ln w="12700"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📱 UX Karyawan Mulus (Seamless)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Karyawan cukup login dengan NIK di aplikasi mobile; routing server bekerja otomatis di latar belakang tanpa repot memilih URL.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14203C"/>
          </a:solidFill>
          <a:ln w="12700"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🛡️ Data Aman &amp; Laporan Mandiri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Data tiap grup entitas dan klien prinsiple terisolasi rapi. Klien dapat memantau dan mendownload laporan presensi kapan saja via subdomain resmi.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300" b="1">
                <a:solidFill>
                  <a:srgbClr val="34D399"/>
                </a:solidFill>
              </a:defRPr>
            </a:pPr>
            <a:r>
              <a:t>💰 Investasi Efisien &amp; Terukur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Total biaya Rp 4.100.000 / bulan sudah mencakup 3 unit Dedicated Cloud VPS, Gratis 300 GB S3 Object Storage, dan Free 3 Domain .cloud.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580DDC-B6F6-E4EF-6FE4-2F5E26CF4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9797" y="662805"/>
            <a:ext cx="5893367" cy="59122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CCDE8E-B0EA-39DF-6506-B0FAD4CB3D1B}"/>
              </a:ext>
            </a:extLst>
          </p:cNvPr>
          <p:cNvSpPr txBox="1"/>
          <p:nvPr/>
        </p:nvSpPr>
        <p:spPr>
          <a:xfrm>
            <a:off x="371302" y="279203"/>
            <a:ext cx="1069848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Server 1 – PT ARINA MULTI KARYA (AMK)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8226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EC914-913C-46C0-9684-D729B58D1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8258E7-D11F-629A-608F-6FC46A5BA8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139797" y="798117"/>
            <a:ext cx="5893367" cy="564167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96D59EB-1AE3-399B-DDC1-657FB7694007}"/>
              </a:ext>
            </a:extLst>
          </p:cNvPr>
          <p:cNvSpPr txBox="1"/>
          <p:nvPr/>
        </p:nvSpPr>
        <p:spPr>
          <a:xfrm>
            <a:off x="371302" y="279203"/>
            <a:ext cx="1069848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Server 2 – PT ALVA KARYA PERKASA (AKP)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62145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3D9E3-B8CA-C9DC-255A-A51E284D0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053F01-0879-8966-39F1-F395BA6D81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253667" y="798117"/>
            <a:ext cx="5665627" cy="564167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54E9CE-CF1F-444F-3D6E-4B4F9A617D87}"/>
              </a:ext>
            </a:extLst>
          </p:cNvPr>
          <p:cNvSpPr txBox="1"/>
          <p:nvPr/>
        </p:nvSpPr>
        <p:spPr>
          <a:xfrm>
            <a:off x="371302" y="279203"/>
            <a:ext cx="1069848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Server 3 – GABUNGAN (ATK, ABO, ATB)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0778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2805E2-96E3-F5D2-E0D0-86A7D904F4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3751"/>
            <a:ext cx="12192000" cy="226846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F2F3C4C-DF11-11AB-153C-32EBCC8B6F72}"/>
              </a:ext>
            </a:extLst>
          </p:cNvPr>
          <p:cNvSpPr txBox="1"/>
          <p:nvPr/>
        </p:nvSpPr>
        <p:spPr>
          <a:xfrm>
            <a:off x="149629" y="205312"/>
            <a:ext cx="1069848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Server 2 – PT ALVA KARYA PERKASA (AKP)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129055-21BC-3E00-A1F0-50B34C8A9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1" y="3674898"/>
            <a:ext cx="7868748" cy="23530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E31C85-2FCD-062C-D25B-D1A33ABA12C6}"/>
              </a:ext>
            </a:extLst>
          </p:cNvPr>
          <p:cNvSpPr txBox="1"/>
          <p:nvPr/>
        </p:nvSpPr>
        <p:spPr>
          <a:xfrm>
            <a:off x="74207" y="3336344"/>
            <a:ext cx="1069848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Server 3 – GABUNGAN (ATK, ABO, ATB)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67097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CC8905-2E2B-26E7-D851-3C52B7F3EC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3" y="986827"/>
            <a:ext cx="7440063" cy="23720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59DB9D8-423F-7348-B63A-CB5AFF19E383}"/>
              </a:ext>
            </a:extLst>
          </p:cNvPr>
          <p:cNvSpPr txBox="1"/>
          <p:nvPr/>
        </p:nvSpPr>
        <p:spPr>
          <a:xfrm>
            <a:off x="103823" y="543866"/>
            <a:ext cx="1069848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Server 1 – AMK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0E3891-8BBC-B6E4-495A-40CDB91BA1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898" y="3392675"/>
            <a:ext cx="5306165" cy="1362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765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</TotalTime>
  <Words>1729</Words>
  <Application>Microsoft Office PowerPoint</Application>
  <PresentationFormat>Widescreen</PresentationFormat>
  <Paragraphs>117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Abdurrahman Jamil</cp:lastModifiedBy>
  <cp:revision>3</cp:revision>
  <dcterms:created xsi:type="dcterms:W3CDTF">2013-01-27T09:14:16Z</dcterms:created>
  <dcterms:modified xsi:type="dcterms:W3CDTF">2026-09-02T07:12:43Z</dcterms:modified>
  <cp:category/>
</cp:coreProperties>
</file>