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2D4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0160" y="1188720"/>
            <a:ext cx="475488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PANDUAN TEKNIS INFRASTRUKTUR IT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828800"/>
            <a:ext cx="9601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Panduan Arsitektur &amp; Setting 3 Server Produksi</a:t>
            </a:r>
          </a:p>
          <a:p>
            <a:pPr>
              <a:spcBef>
                <a:spcPts val="800"/>
              </a:spcBef>
              <a:defRPr sz="1900" b="1">
                <a:solidFill>
                  <a:srgbClr val="34D399"/>
                </a:solidFill>
              </a:defRPr>
            </a:pPr>
            <a:r>
              <a:t>Sistem Presensi Mobile &amp; Pelaporan Lapangan (ESA Groups)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</a:defRPr>
            </a:pPr>
            <a:r>
              <a:t>Dokumen Standard Operating Procedure (SOP) Konfigurasi Server, Dynamic Routing, Cross-Entity Hierarchy, &amp; Subdomain Portal Prinsiple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4389120"/>
            <a:ext cx="9601200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CAKUPAN PANDUAN DEPLOYMENT:</a:t>
            </a:r>
          </a:p>
          <a:p>
            <a:pPr>
              <a:spcBef>
                <a:spcPts val="300"/>
              </a:spcBef>
              <a:defRPr sz="1000">
                <a:solidFill>
                  <a:srgbClr val="FFFFFF"/>
                </a:solidFill>
              </a:defRPr>
            </a:pPr>
            <a:r>
              <a:t>1. Topologi Jaringan &amp; Pembagian Komputasi (AMK: 11.687, ATB+ATK+ABO: 7.424, AKP: 4.400 Karyawan)</a:t>
            </a:r>
          </a:p>
          <a:p>
            <a:pPr>
              <a:spcBef>
                <a:spcPts val="200"/>
              </a:spcBef>
              <a:defRPr sz="1000">
                <a:solidFill>
                  <a:srgbClr val="38BDF8"/>
                </a:solidFill>
              </a:defRPr>
            </a:pPr>
            <a:r>
              <a:t>2. Skema Single Gateway Domain &amp; Auto Dynamic Server Routing pada Aplikasi Mobile (Android/iOS)</a:t>
            </a: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</a:defRPr>
            </a:pPr>
            <a:r>
              <a:t>3. Mekanisme Approval Lintas Entitas (Cross-Entity Hierarchy SPV) &amp; Integrasi Subdomain Reporting Klien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DESAIN INFRASTRUKTUR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Topologi Jaringan &amp; Multi-Instance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Pemisahan komputasi independen yang terhubung melalui Private Local Network (Inter-VPC).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13455" cy="347472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SERVER 1: PT AMK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Single Entity (11.687 Karyawan)</a:t>
            </a:r>
          </a:p>
          <a:p>
            <a:pPr>
              <a:spcBef>
                <a:spcPts val="800"/>
              </a:spcBef>
              <a:defRPr sz="950">
                <a:solidFill>
                  <a:srgbClr val="38BDF8"/>
                </a:solidFill>
              </a:defRPr>
            </a:pPr>
            <a:r>
              <a:t>Public: amk.esagroups.id</a:t>
            </a:r>
            <a:br/>
            <a:r>
              <a:t>Private VPC: 10.0.1.10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• Web Admin &amp; API Engine PT AMK</a:t>
            </a:r>
            <a:br/>
            <a:r>
              <a:t>• High RAM for Database Buffer</a:t>
            </a:r>
            <a:br/>
            <a:r>
              <a:t>• Odoo Sync Processor AMK</a:t>
            </a:r>
            <a:br/>
            <a:r>
              <a:t>• Offload Foto ke S3 Bucket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13455" cy="347472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SERVER 2: ATB+ATK+ABO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Multi-Tenant (7.424 Karyawan)</a:t>
            </a:r>
          </a:p>
          <a:p>
            <a:pPr>
              <a:spcBef>
                <a:spcPts val="800"/>
              </a:spcBef>
              <a:defRPr sz="950">
                <a:solidFill>
                  <a:srgbClr val="38BDF8"/>
                </a:solidFill>
              </a:defRPr>
            </a:pPr>
            <a:r>
              <a:t>Public: atb.esagroups.id</a:t>
            </a:r>
            <a:br/>
            <a:r>
              <a:t>Private VPC: 10.0.1.20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• Web Admin &amp; API Engine 3 PT</a:t>
            </a:r>
            <a:br/>
            <a:r>
              <a:t>• Multi-Tenant Schema Isolation</a:t>
            </a:r>
            <a:br/>
            <a:r>
              <a:t>• Odoo Sync ATB, ATK, ABO</a:t>
            </a:r>
            <a:br/>
            <a:r>
              <a:t>• Offload Foto ke S3 Bucket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13455" cy="347472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SERVER 3: PT AKP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Single Entity (4.400 Karyawan)</a:t>
            </a:r>
          </a:p>
          <a:p>
            <a:pPr>
              <a:spcBef>
                <a:spcPts val="800"/>
              </a:spcBef>
              <a:defRPr sz="950">
                <a:solidFill>
                  <a:srgbClr val="38BDF8"/>
                </a:solidFill>
              </a:defRPr>
            </a:pPr>
            <a:r>
              <a:t>Public: akp.esagroups.id</a:t>
            </a:r>
            <a:br/>
            <a:r>
              <a:t>Private VPC: 10.0.1.30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• Web Admin &amp; API Engine PT AKP</a:t>
            </a:r>
            <a:br/>
            <a:r>
              <a:t>• Standar High-Performance VPS</a:t>
            </a:r>
            <a:br/>
            <a:r>
              <a:t>• Odoo Sync Processor AKP</a:t>
            </a:r>
            <a:br/>
            <a:r>
              <a:t>• Offload Foto ke S3 Bucket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728655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50" b="1">
                <a:solidFill>
                  <a:srgbClr val="A855F7"/>
                </a:solidFill>
              </a:defRPr>
            </a:pPr>
            <a:r>
              <a:t>🔗 JALUR KOMUNIKASI DATA (INTER-VPC PRIVATE NETWORK &amp; OBJECT STORAGE):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• Ketiga server berada di Data Center yang sama dan terhubung via Local Private IP (10.0.1.x) dengan kecepatan 10 Gbps (Latensi &lt; 1ms).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• Media foto selfie presensi dan bukti kunjungan diunggah ke S3-Compatible Object Storage (Gratis 3x 100 GB) sehingga dapat diakses bersama secara instan.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MOBILE CLIENT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Skema URL &amp; Dynamic Server Routing pada Mobile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Karyawan cukup memasukkan NIK di aplikasi mobile; sistem otomatis merutekan traffic ke server yang tepat.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475488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ALUR PENETAPAN URL DI APLIKASI MOBILE: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1. Single Gateway Entrypoint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   Aplikasi mobile di-build dengan 1 domain default: https://api.esagroups.id. Karyawan TIDAK perlu memilih atau mengetik server manual.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2. Login &amp; Server Discovery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   Karyawan input NIK &amp; Password. Gateway memeriksa entitas karyawan dan meneruskan verifikasi ke server entitas terkait.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3. Dynamic Endpoint Storing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   Setelah login sukses, server mengembalikan API Base URL (misal https://atb.esagroups.id). Mobile app menyimpan endpoint ini di local secure storage.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4. Direct High-Speed Traffic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   Seluruh transaksi presensi, selfie kamera, geofence GPS, dan visit report selanjutnya langsung dikirim ke server tujuan secara efisien.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4327855" cy="47548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STRUKTUR RESPONSE AUTH (JSON):</a:t>
            </a:r>
          </a:p>
          <a:p>
            <a:pPr>
              <a:spcBef>
                <a:spcPts val="800"/>
              </a:spcBef>
              <a:defRPr sz="900">
                <a:solidFill>
                  <a:srgbClr val="A78BFA"/>
                </a:solidFill>
              </a:defRPr>
            </a:pPr>
            <a:r>
              <a:t>{</a:t>
            </a:r>
            <a:br/>
            <a:r>
              <a:t>  "status": "success",</a:t>
            </a:r>
            <a:br/>
            <a:r>
              <a:t>  "message": "Login berhasil",</a:t>
            </a:r>
            <a:br/>
            <a:r>
              <a:t>  "data": {</a:t>
            </a:r>
            <a:br/>
            <a:r>
              <a:t>    "token": "45|eyJhbGciOiJIUz...",</a:t>
            </a:r>
            <a:br/>
            <a:r>
              <a:t>    "employee": {</a:t>
            </a:r>
            <a:br/>
            <a:r>
              <a:t>      "nik": "3578012345670001",</a:t>
            </a:r>
            <a:br/>
            <a:r>
              <a:t>      "name": "Budi Santoso",</a:t>
            </a:r>
            <a:br/>
            <a:r>
              <a:t>      "company": "PT ATB",</a:t>
            </a:r>
            <a:br/>
            <a:r>
              <a:t>      "is_head_spv": true</a:t>
            </a:r>
            <a:br/>
            <a:r>
              <a:t>    },</a:t>
            </a:r>
            <a:br/>
            <a:r>
              <a:t>    "routing": {</a:t>
            </a:r>
            <a:br/>
            <a:r>
              <a:t>      "assigned_server": "SERVER_2",</a:t>
            </a:r>
            <a:br/>
            <a:r>
              <a:t>      "api_base_url": "https://atb.esagroups.id/api",</a:t>
            </a:r>
            <a:br/>
            <a:r>
              <a:t>      "media_cdn_url": "https://storage.esagroups.id"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WORKFLOW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Hierarki Atasan Lintas Entitas (Cross-Entity Hierarchy)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Menangani approval Cuti, Izin, Lembur, dan Monitoring Karyawan yang memiliki Head/SPV di entitas berbeda.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250" b="1">
                <a:solidFill>
                  <a:srgbClr val="38BDF8"/>
                </a:solidFill>
              </a:defRPr>
            </a:pPr>
            <a:r>
              <a:t>1. Identifikasi Relasi via NIK Global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Struktur atasan-bawahan dihubungkan menggunakan NIK Karyawan. Jika staf di PT ATB (Server 2) memiliki atasan di PT AMK (Server 1), data mencatat `supervisor_nik = [NIK_SPV_AMK]`.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250" b="1">
                <a:solidFill>
                  <a:srgbClr val="34D399"/>
                </a:solidFill>
              </a:defRPr>
            </a:pPr>
            <a:r>
              <a:t>2. Delegasi Notifikasi Approval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Saat staf mengajukan Izin/Cuti/Lembur, event approval diteruskan ke SPV via jalur Private Network (Inter-VPC). Notifikasi langsung muncul di aplikasi mobile SPV secara real-time.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250" b="1">
                <a:solidFill>
                  <a:srgbClr val="FBBF24"/>
                </a:solidFill>
              </a:defRPr>
            </a:pPr>
            <a:r>
              <a:t>3. Single Dashboard Tim bagi SPV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SPV di Server 1 dapat melihat daftar kehadiran dan live tracking seluruh anggotanya (baik anggota dari AMK, ATB, maupun AKP) dalam 1 layar dashboard terpadu tanpa harus berganti akun.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250" b="1">
                <a:solidFill>
                  <a:srgbClr val="A855F7"/>
                </a:solidFill>
              </a:defRPr>
            </a:pPr>
            <a:r>
              <a:t>4. Callback Status Otomatis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Ketika SPV mengklik tombol Approve / Reject, sistem mengupdate status presensi bawahan di server asalnya seketika dan mengirimkan push notification ke staf.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CLIENT REPORTING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Subdomain Khusus Pelaporan &amp; Monitoring Prinsiple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Portal white-label mandiri bagi prinsiple/klien (Dulux, Fonterra, Wings, dll) dengan akses data terisolasi.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669280" cy="475488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FITUR PORTAL SUBDOMAIN PRINSIPLE: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Wildcard DNS (*.esagroups.id)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   Cukup 1 konfigurasi DNS wildcard; setiap prinsiple baru otomatis langsung aktif subdomainnya tanpa konfigurasi DNS ulang.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White-Label Branding Eksklusif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   Logo, tema warna, dan nama prinsiple disesuaikan otomatis saat subdomain dibuka (misal: dulux.esagroups.id atau fonterra.esagroups.id).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Data Privacy &amp; Strict Isolation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   Klien HANYA dapat melihat absensi, rute kunjungan toko, dan laporan sales karyawan yang ditempatkan di produk mereka.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Self-Service Export Excel / PDF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   Prinsiple dapat mengunduh rekapitulasi kehadiran dan bukti foto display toko secara mandiri kapan saja.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4876495" cy="4754880"/>
          </a:xfrm>
          <a:prstGeom prst="roundRect">
            <a:avLst/>
          </a:prstGeom>
          <a:solidFill>
            <a:srgbClr val="0F172A"/>
          </a:solidFill>
          <a:ln>
            <a:solidFill>
              <a:srgbClr val="2D4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CONTOH PEMETAAN SUBDOMAIN KLIEN:</a:t>
            </a:r>
          </a:p>
          <a:p>
            <a:pPr>
              <a:spcBef>
                <a:spcPts val="700"/>
              </a:spcBef>
              <a:defRPr sz="1000" b="1">
                <a:solidFill>
                  <a:srgbClr val="38BDF8"/>
                </a:solidFill>
              </a:defRPr>
            </a:pPr>
            <a:r>
              <a:t>🌐 https://dulux.esagroups.id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   Portal Reporting Khusus AkzoNobel / Dulux</a:t>
            </a:r>
          </a:p>
          <a:p>
            <a:pPr>
              <a:spcBef>
                <a:spcPts val="700"/>
              </a:spcBef>
              <a:defRPr sz="1000" b="1">
                <a:solidFill>
                  <a:srgbClr val="38BDF8"/>
                </a:solidFill>
              </a:defRPr>
            </a:pPr>
            <a:r>
              <a:t>🌐 https://fonterra.esagroups.id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   Portal Reporting Anchor, Anlene, Boneeto</a:t>
            </a:r>
          </a:p>
          <a:p>
            <a:pPr>
              <a:spcBef>
                <a:spcPts val="700"/>
              </a:spcBef>
              <a:defRPr sz="1000" b="1">
                <a:solidFill>
                  <a:srgbClr val="38BDF8"/>
                </a:solidFill>
              </a:defRPr>
            </a:pPr>
            <a:r>
              <a:t>🌐 https://wings.esagroups.id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   Portal Reporting Multi-Entitas Wings Group</a:t>
            </a:r>
          </a:p>
          <a:p>
            <a:pPr>
              <a:spcBef>
                <a:spcPts val="700"/>
              </a:spcBef>
              <a:defRPr sz="1000" b="1">
                <a:solidFill>
                  <a:srgbClr val="38BDF8"/>
                </a:solidFill>
              </a:defRPr>
            </a:pPr>
            <a:r>
              <a:t>🌐 https://sidomuncul.esagroups.id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   Portal Reporting PT Sido Muncul</a:t>
            </a:r>
          </a:p>
          <a:p>
            <a:pPr>
              <a:spcBef>
                <a:spcPts val="700"/>
              </a:spcBef>
              <a:defRPr sz="1000" b="1">
                <a:solidFill>
                  <a:srgbClr val="38BDF8"/>
                </a:solidFill>
              </a:defRPr>
            </a:pPr>
            <a:r>
              <a:t>🌐 https://unilever.esagroups.id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   Portal Reporting FMCG Unilever</a:t>
            </a:r>
          </a:p>
          <a:p>
            <a:pPr>
              <a:spcBef>
                <a:spcPts val="700"/>
              </a:spcBef>
              <a:defRPr sz="1000" b="1">
                <a:solidFill>
                  <a:srgbClr val="38BDF8"/>
                </a:solidFill>
              </a:defRPr>
            </a:pPr>
            <a:r>
              <a:t>🌐 https://kalbe.esagroups.id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   Portal Reporting Divisi Pharma &amp; Nutrition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STANDARD OPERATING 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Checklist &amp; SOP Konfigurasi Server Produksi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Panduan langkah demi langkah penyiapan environment 3 Server Cloud VPS hingga Go-Live.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868680"/>
          </a:xfrm>
          <a:prstGeom prst="roundRect">
            <a:avLst/>
          </a:prstGeom>
          <a:solidFill>
            <a:srgbClr val="14203C"/>
          </a:solidFill>
          <a:ln>
            <a:solidFill>
              <a:srgbClr val="2D4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Langkah 1: Provisioning &amp; OS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Instalasi Ubuntu 22.04 LTS 64-bit pada 3 Server Multiverse Ultra. Konfigurasi Private IP Inter-VPC (10.0.1.x) dan SSH Key Authentication.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728655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2D4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Langkah 2: Web Server &amp; PHP Stack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Instalasi Nginx Web Server, PHP 8.2-FPM (dengan ekstensi pgsql, redis, gd, zip, xmlrpc, bcmath), dan Supervisor Process Manager.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728655" cy="868680"/>
          </a:xfrm>
          <a:prstGeom prst="roundRect">
            <a:avLst/>
          </a:prstGeom>
          <a:solidFill>
            <a:srgbClr val="14203C"/>
          </a:solidFill>
          <a:ln>
            <a:solidFill>
              <a:srgbClr val="2D4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Langkah 3: Database &amp; Caching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Instalasi PostgreSQL 15 / MySQL 8 &amp; Redis Server. Konfigurasi `shared_buffers` 8GB di Server 1 &amp; 2, serta 4GB di Server 3. Optimasi max_connections 500.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26280"/>
            <a:ext cx="10728655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2D4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Langkah 4: Deploy Script &amp; SSL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Clone repository `att-admin-v12`, jalankan composer install &amp; migration, aktifkan SSL Let's Encrypt Wildcard (*.esagroups.id), dan tes Odoo Sync.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4203C"/>
          </a:solidFill>
          <a:ln>
            <a:solidFill>
              <a:srgbClr val="2D4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Langkah 5: Cron &amp; Object Storage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Setting Cron Job harian (01:00 WIB Odoo Sync, 00:05 Auto Reset Roster), hubungkan S3 Object Storage API, dan verifikasi upload selfie kamera.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Rangkuman Eksekutif &amp; Rencana Tindak Lanjut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Arsitektur 3 server siap dieksekusi untuk menjamin operasional presensi 23.511 karyawan tanpa kendala.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D4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⚡ Bebas Bottleneck 100%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Beban puncak presensi pagi &amp; sore (500–800 RPS) terbagi rata di 3 mesin independen. Menghilangkan risiko server down atau antrean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D4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📱 UX Karyawan Mulus (Seamless)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Karyawan cukup login dengan NIK di aplikasi mobile; routing server bekerja otomatis di latar belakang tanpa repot memilih URL.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D4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🛡️ Data Aman &amp; Laporan Mandiri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Data tiap grup entitas dan klien prinsiple terisolasi rapi. Klien dapat memantau dan mendownload laporan presensi kapan saja via subdomain resmi.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💰 Investasi Efisien &amp; Terukur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Total biaya Rp 4.100.000 / bulan sudah mencakup 3 unit Dedicated Cloud VPS, Gratis 300 GB S3 Object Storage, dan Free 3 Domain .cloud.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