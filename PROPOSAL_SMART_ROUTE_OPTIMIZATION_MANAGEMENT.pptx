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4114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PROPOSAL INOVASI TEKNOLOGI LAPANGAN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SMART ROUTE OPTIMIZATION ENGINE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Sistem Rekomendasi Urutan Kunjungan Toko Berbasis Jaringan Jalan Raya Riil (Real Road Network)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🚗 Rute Nyata Jalan Raya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Bukan garis lurus; menghitung jalan satu arah, belokan, dan jarak aspal aktual.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11480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2062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⏱️ Efisiensi Waktu &amp; BBM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Memotong rute bolak-balik (zigzag), menghemat 20%-35% konsumsi bahan bakar.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11480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2062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📈 +25% Kapasitas Visit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SPG dapat melayani 1-2 toko tambahan per hari karena waktu di jalan terpangkas.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Attendance ESA Management System • Divisi Product &amp; Engineering •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LATAR BELAKANG &amp;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Tantangan Operasional Rute Kunjungan SPG / Sales Saat 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1155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Kondisi aktual sebelum adanya optimasi rute cerdas di lapangan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37160" cy="2240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1. Rute Kunjungan Acak &amp; Zig-Zag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SPG menentukan sendiri urutan toko berdasarkan kebiasaan atau urutan input form.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Akibatnya: Sering terjadi rute silang (misal dari Toko A di utara ke Toko C di selatan, lalu balik lagi ke Toko B di utara).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137160" cy="2240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Arial"/>
              </a:defRPr>
            </a:pPr>
            <a:r>
              <a:t>2. Waktu Kerja Habis di Perjalanan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Rata-rata 1.5 s/d 2.5 jam per hari terbuang hanya untuk waktu tempuh di jalan.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Waktu efektif di dalam toko untuk merchandising, cek stok, dan pelayanan konsumen menjadi terpotong signifikan.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37160" cy="2240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14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3. Pembengkakan Biaya Klaim BBM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Total kilometer jarak tempuh harian menjadi 30% - 40% lebih tinggi dari rute optimal.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Berdampak langsung pada lonjakan biaya operasional transportasi dan klaim bahan bakar perusahaan.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931920"/>
            <a:ext cx="137160" cy="2240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14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4. Tidak Ada Standar Urutan Kunjungan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Supervisor sulit mengontrol apakah rute yang ditempuh SPG sudah efisien atau belum.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• Tidak ada acuan rute terencana (planned route) untuk membandingkan realisasi rute aktual (actual route).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ANALISIS KRITIS METODOLOGI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Mengapa Jarak Garis Lurus (Haversine) Menyesatkan di Lapangan?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1155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Perbandingan mendalam antara perhitungan matematika teoritis vs kenyataan jalan raya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578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5257800" cy="548640"/>
          </a:xfrm>
          <a:prstGeom prst="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F4444"/>
                </a:solidFill>
                <a:latin typeface="Arial"/>
              </a:defRPr>
            </a:pPr>
            <a:r>
              <a:t>❌ METODE GARIS LURUS (Teoritis / Haversine)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🚫 Mengabaikan Jalan Fisik: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Hanya menarik garis lurus di atas peta (seperti terbangnya burung). Tidak peduli ada jalan aspal atau tidak.</a:t>
            </a:r>
          </a:p>
          <a:p>
            <a:pPr>
              <a:spcBef>
                <a:spcPts val="800"/>
              </a:spcBef>
              <a:defRPr sz="1100" b="1">
                <a:solidFill>
                  <a:srgbClr val="EF4444"/>
                </a:solidFill>
                <a:latin typeface="Arial"/>
              </a:defRPr>
            </a:pPr>
            <a:r>
              <a:t>🚫 Jalan Satu Arah (One-Way) &amp; Pembatas Jalan: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Di peta terlihat bersebelahan 200 meter, tapi karena ada separator jalan / satu arah, pengendara harus memutar 2.5 km.</a:t>
            </a:r>
          </a:p>
          <a:p>
            <a:pPr>
              <a:spcBef>
                <a:spcPts val="800"/>
              </a:spcBef>
              <a:defRPr sz="1100" b="1">
                <a:solidFill>
                  <a:srgbClr val="EF4444"/>
                </a:solidFill>
                <a:latin typeface="Arial"/>
              </a:defRPr>
            </a:pPr>
            <a:r>
              <a:t>🚫 Hambatan Fisik Nyata: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Tidak memperhitungkan sungai tanpa jembatan terdekat, rel kereta, kawasan buntu, atau jalan protokol yang dilarang motor.</a:t>
            </a:r>
          </a:p>
          <a:p>
            <a:pPr>
              <a:spcBef>
                <a:spcPts val="800"/>
              </a:spcBef>
              <a:defRPr sz="1100" b="1">
                <a:solidFill>
                  <a:srgbClr val="EF4444"/>
                </a:solidFill>
                <a:latin typeface="Arial"/>
              </a:defRPr>
            </a:pPr>
            <a:r>
              <a:t>🚫 Prediksi Urutan Salah Fatal: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Sistem bisa merekomendasikan toko yang 'kelihatan dekat di peta', padahal butuh waktu 30 menit lebih lama karena memutar macet.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2578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257800" cy="548640"/>
          </a:xfrm>
          <a:prstGeom prst="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✅ METODE REAL ROAD NETWORK (Usulan Kita)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⭐ Mengikuti Jaringan Aspal Riil: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Menghitung jarak meteran aspal yang benar-benar dilalui kendaraan motor/mobil.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⭐ Paham Aturan Lalu Lintas &amp; Arah: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Mendeteksi jalan satu arah, belokan terlarang, putaran balik (U-turn), serta simpang flyover/underpass.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⭐ Output Ganda: Jarak (km) &amp; Durasi (menit):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Tidak hanya tahu jarak kilometer, tapi juga memprediksi berapa menit waktu tempuh perjalanan.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⭐ Rekomendasi 100% Dapat Diterapkan: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Urutan rute yang diberikan sistem langsung sinkron dengan navigasi Google Maps/Waze yang digunakan SPG.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KONSEP &amp; ALUR KERJA SOLUSI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Bagaimana Engine Menyusun Urutan Kunjungan Terdekat?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1155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Prinsip Algoritma Travelling Salesperson Problem (TSP) dengan Road Network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69164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Titik Awal (Start Point)</a:t>
            </a:r>
          </a:p>
          <a:p>
            <a:pPr algn="ctr">
              <a:spcBef>
                <a:spcPts val="3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Kantor Cabang / Posisi Live SPG</a:t>
            </a:r>
          </a:p>
          <a:p>
            <a:pPr algn="ctr"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Sistem membaca koordinat GPS titik keberangkatan (misal Kantor A atau titik domisili saat check-in awal).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0876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169164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060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Pool Toko Jadwal Kunjungan</a:t>
            </a:r>
          </a:p>
          <a:p>
            <a:pPr algn="ctr">
              <a:spcBef>
                <a:spcPts val="3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Multi-Stop Stores (A, B, C, D...)</a:t>
            </a:r>
          </a:p>
          <a:p>
            <a:pPr algn="ctr"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Admin atau SPG memasukkan daftar toko yang harus dikunjungi pada hari itu tanpa perlu pusing memikirkan urutan.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0876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95160" y="169164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6060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Komputasi Road Matrix Nyata</a:t>
            </a:r>
          </a:p>
          <a:p>
            <a:pPr algn="ctr">
              <a:spcBef>
                <a:spcPts val="3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Pengecekan Jarak &amp; Waktu Jalan</a:t>
            </a:r>
          </a:p>
          <a:p>
            <a:pPr algn="ctr"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Routing Engine menghitung matriks jarak aspal &amp; estimasi menit dari Kantor ke semua toko, serta antar sesama toko.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50876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92640" y="169164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6060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Rekomendasi Urutan Terbaik</a:t>
            </a:r>
          </a:p>
          <a:p>
            <a:pPr algn="ctr">
              <a:spcBef>
                <a:spcPts val="3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Best Visiting Sequence (1 s/d N)</a:t>
            </a:r>
          </a:p>
          <a:p>
            <a:pPr algn="ctr">
              <a:spcBef>
                <a:spcPts val="6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Algoritma memilih rute terpendek secara berantai (Kantor -&gt; B -&gt; D -&gt; A -&gt; C) dengan total km dan menit paling hemat.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80"/>
            <a:ext cx="10698480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📌 CONTOH KASUS SIMULASI NYATA (4 TOKO VISIT DARI KANTOR A):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Arial"/>
              </a:defRPr>
            </a:pPr>
            <a:r>
              <a:t>• Rute Acak (Sebelumnya): Kantor -&gt; Toko A (5.5 km) -&gt; Toko C (6.2 km) -&gt; Toko B (4.5 km) -&gt; Toko D (3.4 km) = TOTAL: 19.6 KM (72 Menit)</a:t>
            </a:r>
            <a:br/>
            <a:r>
              <a:t>• Rute Rekomendasi (Smart Engine): Kantor -&gt; Toko B (1.4 km) -&gt; Toko D (2.1 km) -&gt; Toko A (2.8 km) -&gt; Toko C (3.5 km) = TOTAL: 9.8 KM (38 Menit)</a:t>
            </a:r>
            <a:br/>
            <a:r>
              <a:t>👉 HASIL: PENGHEMATAN JARAK SEBESAR 50% &amp; PENGHEMATAN WAKTU SEBESAR 34 MENIT!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KOMPARASI MENYELURUH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Tabel Perbandingan 3 Pendekatan Pengaturan Rute Kunjungan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1155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Membandingkan keakuratan, efisiensi biaya, dan kepraktisan penggunaan di lapangan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743200"/>
                <a:gridCol w="2743200"/>
                <a:gridCol w="274320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 Evaluasi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 Manual (Feeling SPG)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2. Garis Lurus (Haversine)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3. Real Road Network (Usulan)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Akurasi Jarak Tempuh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❌ Sangat Rendah (tebak-tebakan)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⚠️ Sedang (jarak garis lurus/udara)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✅ Sangat Tinggi (jarak jalan aspal riil)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Sensitivitas Jalan 1 Arah / U-Turn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⚠️ Tergantung hafalan SPG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❌ Tidak Tahu (garis lurus menembus jalan)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✅ 100% Memperhitungkan aturan jalan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Estimasi Waktu Tempuh (Menit)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❌ Tidak ada kalkulasi sistem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❌ Hanya estimasi kasar kecepatan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✅ Akurat (kecepatan rata-rata motor/mobil)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Potensi Rute Zig-Zag / Mubazir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❌ Sangat Tinggi (sering bolak-balik)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⚠️ Masih Sering Terjadi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✅ Minimum (teroptimasi algoritma TSP)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Dampak Biaya &amp; Waktu Lapangan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❌ Boros BBM &amp; buang waktu di jalan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⚠️ Penghematan semu/tidak konsisten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✅ Hemat BBM 20-35% &amp; Hemat waktu 45 mnt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ARSITEKTUR &amp; INTEGRASI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Integrasi End-to-End pada Ekosistem Attendance 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1155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Bagaimana fitur ini bekerja harmonis di Web Admin Filament, Laravel API, dan Mobile App Flutter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47472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1. WEB ADMIN FILAMENT (Supervisor / Admin)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Input Jadwal Kunjungan: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Admin memilih toko-toko yang wajib dikunjungi SPG.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Tombol Aksi Cerdas: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'⚡ Optimalkan Urutan Rute Kunjungan (Road Network)'.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Pilihan Titik Mulai: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Kantor Cabang, Posisi Rumah/Start, atau Toko Utama.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Peta Interaktif: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Menampilkan rute garis jalan raya nyata di atas Google Maps peta admin.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Mode Strict Routing: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Opsi mengunci urutan (karyawan wajib absen sesuai nomor 1, 2, 3...).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347472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2. BACKEND &amp; ROUTING ENGINE (Laravel 12 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Distance &amp; Duration Matrix Calculation: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Menghitung jarak jalan riil antar seluruh titik koordinat.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Algoritma TSP Solver: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Menentukan permutasi rute paling efisien dalam milidetik (&lt;150ms).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Geocoding &amp; Location Cache: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Menyimpan matriks jarak toko yang sering dikunjungi agar hemat request.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API Endpoint: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Menyediakan data rute rekomendasi untuk aplikasi mobile dan web admin.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50876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508760"/>
            <a:ext cx="3474720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3. MOBILE APPLICATION (SPG / Sales Force Flutter)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945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Daftar Kunjungan Hari Ini: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Disajikan berurutan nomor 1, 2, 3 dengan info estimasi km &amp; waktu.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Tombol Reroute Live: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'📍 Optimalkan dari Posisi Saya Sekarang' (jika SPG mendadak ubah titik start).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Integrasi Navigasi Langsung: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1 klik langsung membuka turn-by-turn navigation di Google Maps / Waze.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✔ Check-in &amp; Geofencing: 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Tombol Visit-in otomatis aktif saat SPG berada di radius toko tujuan.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OPSI TEKNOLOGI &amp; ANALISIS BIAYA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Pilihan Routing Engine Provider: Biaya Nol vs Berbayar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1155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Rekomendasi implementasi cerdas untuk efisiensi biaya infrastruktur perusahaan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474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OPSI 1: OSRM (Open Source Routing Machine)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FEF08A"/>
                </a:solidFill>
                <a:latin typeface="Arial"/>
              </a:defRPr>
            </a:pPr>
            <a:r>
              <a:t>BIAYA: RP 0 (100% GRATIS)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Teknologi berbasis OpenStreetMap (OSM) yang mendunia.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Dapat diakses via public server atau di-host sendiri (self-hosted Docker).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Sangat cepat: Mampu memproses ribuan matriks jarak dalam hitungan milidetik.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Bebas kuota &amp; bebas biaya langganan bulanan selamanya.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Cocok untuk: Operasional skala besar tanpa membebani biaya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34747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OPSI 2: GOOGLE MAPS ROUTES / DISTANCE MATRIX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FEF08A"/>
                </a:solidFill>
                <a:latin typeface="Arial"/>
              </a:defRPr>
            </a:pPr>
            <a:r>
              <a:t>BIAYA: KUOTA GRATIS $200/BLN + PAY AS YOU 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Akurasi jalan raya paling populer dengan database POI Google.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Memperhitungkan kondisi kemacetan lalu lintas real-time (live traffic).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Google memberikan kredit gratis $200 (~28.000 request) setiap bulan.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Jika melebihi kuota gratis, ada tagihan kartu kredit per 1.000 request.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Cocok untuk: Perkotaan megapolitan dengan tingkat kemacetan ekstrem.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50876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508760"/>
            <a:ext cx="34747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OPSI 3: HYBRID ARCHITECTURE (REKOMENDASI)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FEF08A"/>
                </a:solidFill>
                <a:latin typeface="Arial"/>
              </a:defRPr>
            </a:pPr>
            <a:r>
              <a:t>BEST PRACTICE: 100% HEMAT + TINGGI HANDAL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3774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Gunakan OSRM sebagai Engine Utama untuk 90% routing harian (Rp 0).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Sistem memiliki Caching Matrix lokal (toko-toko yang sama tidak dihitung ulang).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Fallback cerdas: Hanya gunakan Google Maps API jika OSRM sedang maintenance.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Hasil: Perusahaan menikmati akurasi rute jalan raya 100% tanpa tagihan cloud.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Rekomendasi Kami: Mulai dengan Opsi 3 untuk memaksimalkan ROI!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DAMPAK BISNIS &amp; KEUNTUNGAN FINANSIAL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Return on Investment (ROI) &amp; Efisiensi Operasional Nyata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1155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Bagaimana inovasi rute cerdas ini memberikan penghematan langsung dan meningkatkan penjualan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554480" cy="2240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⛽ 20% - 35%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91640"/>
            <a:ext cx="3337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PENGHEMATAN BBM &amp; BIAYA TRANSPORT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Dengan menghilangkan rute bolak-balik (zigzag), total jarak tempuh bulanan terpangkas drastis. Biaya klaim bensin atau transport allowance karyawan menjadi jauh lebih efisien.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1554480" cy="2240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⏱️ 30 - 60 Mnt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691640"/>
            <a:ext cx="3337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WAKTU PERJALANAN HEMAT PER HARI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SPG menghabiskan lebih sedikit waktu di atas motor/mobil dan di tengah kemacetan. Mengurangi stres dan kelelahan fisik tim lapangan sehingga kerja lebih prima.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554480" cy="2240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📈 +1 s/d 2 Toko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114800"/>
            <a:ext cx="3337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PENAMBAHAN TOKO KUNJUNGAN/HARI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Waktu perjalanan yang dihemat dapat dialihkan untuk menambah kuota visit toko baru, memaksimalkan display produk, dan melayani lebih banyak konsumen.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931920"/>
            <a:ext cx="1554480" cy="2240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📊 100% Transparan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114800"/>
            <a:ext cx="3337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KONTROL &amp; AUDIT RUTE OLEH MANAJEMEN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Manajemen memiliki data komparasi antara 'Planned Route' (rute rekomendasi terbaik) vs 'Actual Route' (jejak GPS aktual) untuk evaluasi kedisiplinan dan kepatuhan.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RENCANA KERJA &amp;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Roadmap Implementasi Fitur Smart Route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1155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Tahapan pengembangan sistem secara terstruktur dan terukur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9888" y="1691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6032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Tahap 1: Core Engine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0EA5E9"/>
                </a:solidFill>
                <a:latin typeface="Arial"/>
              </a:defRPr>
            </a:pPr>
            <a:r>
              <a:t>⏱️ Minggu 1</a:t>
            </a:r>
          </a:p>
          <a:p>
            <a:pPr algn="ctr"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Pengembangan Routing Service di Laravel Backend, integrasi OSRM / Road Matrix, algoritma penyusunan urutan terdekat (TSP).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50876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38728" y="1691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56032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Tahap 2: Admin Panel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0EA5E9"/>
                </a:solidFill>
                <a:latin typeface="Arial"/>
              </a:defRPr>
            </a:pPr>
            <a:r>
              <a:t>⏱️ Minggu 2</a:t>
            </a:r>
          </a:p>
          <a:p>
            <a:pPr algn="ctr"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Integrasi tombol 'Optimalkan Rute' di form Itinerary Filament, visualisasi peta rute jalan raya, pengaturan titik start.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50876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87568" y="1691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56032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Tahap 3: Mobile App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0EA5E9"/>
                </a:solidFill>
                <a:latin typeface="Arial"/>
              </a:defRPr>
            </a:pPr>
            <a:r>
              <a:t>⏱️ Minggu 3</a:t>
            </a:r>
          </a:p>
          <a:p>
            <a:pPr algn="ctr"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Pembaruan UI jadwal visit di aplikasi SPG, tampilan badge urutan 1-2-3 (km &amp; menit), tombol navigasi Google Maps.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50876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36408" y="1691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256032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Tahap 4: Uji Coba Pilot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0EA5E9"/>
                </a:solidFill>
                <a:latin typeface="Arial"/>
              </a:defRPr>
            </a:pPr>
            <a:r>
              <a:t>⏱️ Minggu 4</a:t>
            </a:r>
          </a:p>
          <a:p>
            <a:pPr algn="ctr"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Pilot project pada 1 Prinsiple/Area (misal Tim Wings Surya / Area Surabaya) untuk validasi akurasi dan user feedback.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50876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85248" y="1691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256032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Tahap 5: Full Rollout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0EA5E9"/>
                </a:solidFill>
                <a:latin typeface="Arial"/>
              </a:defRPr>
            </a:pPr>
            <a:r>
              <a:t>⏱️ Minggu 5</a:t>
            </a:r>
          </a:p>
          <a:p>
            <a:pPr algn="ctr">
              <a:spcBef>
                <a:spcPts val="8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Peluncuran ke seluruh cabang &amp; prinsiple, aktivasi dashboard analitik rute, panduan SOP bagi SPG dan supervisor.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RINGKASAN EKSEKUTIF &amp; REKOMENDASI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Arial"/>
              </a:defRPr>
            </a:pPr>
            <a:r>
              <a:t>Kesimpulan &amp; Usulan Keputusan Manajemen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9184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1. Kebutuhan Nyata Lapangan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Masalah inefisiensi rute dan borosnya bensin/waktu di jalan adalah fakta riil yang dialami SPG setiap hari. Fitur ini menjawab masalah tersebut secara terukur dan ilmiah.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11680"/>
            <a:ext cx="329184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945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2. Keunggulan Real Road Network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Perhitungan jarak jalan raya riil menjamin rute yang disarankan tidak mustahil ditempuh (bebas salah arah/jalan buntu), sehingga SPG benar-benar terbantu dan mematuhi urutan.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011680"/>
            <a:ext cx="329184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21945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3. Tanpa Beban Biaya Tambahan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Pemanfaatan open-source engine (OSRM) dengan hybrid failover memungkinkan perusahaan menikmati sistem routing canggih ini dengan investasi infrastruktur Rp 0 untuk API!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212080"/>
            <a:ext cx="10332720" cy="109728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3035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EF08A"/>
                </a:solidFill>
                <a:latin typeface="Arial"/>
              </a:defRPr>
            </a:pPr>
            <a:r>
              <a:t>🎯 USULAN PERSETUJUAN (NEXT ACTION):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Menyetujui pengerjaan Tahap 1 (Core Engine &amp; Backend Matrix) dan Tahap 2 (Admin Panel Filament) sebagai fitur unggulan pada update sistem Attendance ESA versi berikutnya.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