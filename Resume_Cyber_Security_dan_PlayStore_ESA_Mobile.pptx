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36CF7-A1A9-4777-E733-5A3089617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8FB28-D1F5-D849-6E28-4135B04EF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42597-A88A-1C68-E4B1-8458084B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D99DE-BB22-1E4A-1A8A-B4A675BB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219DF-D611-45D3-8EC8-D1ACDDE5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7192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01EB-1E22-247D-E55A-7162F0D2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7AA4D-73E0-84A9-4240-D104AB84D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6CA45-2520-632A-40D5-9B34A728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B19F7-916A-FB1F-83CA-F02052340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D989-42CF-0636-67C7-95362D4C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5134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D345-06E7-7509-8CE2-A98ED215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8C90D-C058-9F2C-1885-9CCF98363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0095E-E6A3-8A8E-A618-761EA854C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A6AC8-64D5-C88C-3933-53F4F7FF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36983-DBC3-1223-59C9-86073941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4842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CB7FE-7184-00D7-1604-BB3D2AB1B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69CEC-3528-5835-7762-F535D8796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3EE79-079C-67AB-3735-E248A25FE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AD5CD-1A45-674A-8A80-BF7C9081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FF887-4BAF-471C-D7E8-F431056C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1EFF1-918F-B934-3F4D-423A4D8F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111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F0E8-B8EA-4095-A0F2-63ABA0E1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DF598-9A13-E7BA-9CE5-119A93CF3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35F7B-4CE8-0DE6-80E4-AE5C040B5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9EF186-B2C5-B399-28E4-ED870C9FB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FADAC-C1C7-D70C-D751-C10F4D33D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433BF2-9DFB-C924-F0ED-F134CCDC4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9111B-0EFF-D106-D6CA-86E104025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8FA3A9-076E-5DCC-FEBE-C62DB04C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463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92564-01D5-8C27-A665-9B691BA2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C8ED2-7753-4D65-3F3D-3BAA4B49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6E4B2-BE64-C086-A838-305B47CE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64FAA-18F6-F678-52DB-533791F8C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7363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ACFEF-CE44-B7D4-A77E-7C3CF3A8D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68890-2B56-86C1-EBAD-94FD5C2FE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E9DFC-73B6-9BEA-D577-6D914301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092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B19E-6033-C486-7402-2408527A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B54D7-953C-B6B7-E3E0-EBE7BEABC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A2662-F74D-A407-0C8F-E66BED2DA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C5900-82D8-333B-0283-860020C8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7C611-73C5-BAA3-F667-6CA55121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061BA-90CE-0388-54E9-B3010718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6323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9481-3D41-5ACD-7B42-16E69B15D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91450-77E2-D306-221F-FEBF88AE2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3228D-6B14-09BB-D7E1-0541F8D42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5B708-687A-D78C-428C-CC6762FB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AF2A9-6971-67F5-ACDF-C1368241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08DEB-3056-0ABC-ECDB-E3982CD5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708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4501-3A80-8CD7-CECC-192236F6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DC086-0B91-2E91-D318-7013CE388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8665F-06A8-1F49-D841-CFE11976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58CCD-1711-4216-78E2-7EBE1B7D3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BCB1-FB90-17A8-B42D-A6AE2744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5723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43EA86-46ED-50DA-9080-54A9D773B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2DE4B-6F10-578E-9D09-52B684F97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F7693-DF6C-BC9C-5A0E-5FD922F62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5E1C2-E785-4B20-4F05-F771B1DC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F675E-9C73-67E9-1351-B14AD7EE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851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4293DA-A34B-9C25-4D23-E17DE84A8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11CDC-48C4-CA67-1C54-C8D4E26F8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2A603-0790-7F96-17A9-1DD23C6C1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15859-5D45-4C83-8105-D5B9BC9E4486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81658-7804-57D6-80F2-F97F8CCD9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FE25A-6E32-90BC-DEDA-F4B7335DA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742C0-C9CF-479D-A40B-303094F5BB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529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1FEB7D-9A07-505B-C6AA-39A4A6A16E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9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A1C4EC-7B04-18ED-67A5-E2267D9557C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C10CC-37FB-4686-7E3E-66625A0D4D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609600"/>
            <a:ext cx="1778000" cy="889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EC8B65-0FF3-1E49-DF8A-405929C56DD5}"/>
              </a:ext>
            </a:extLst>
          </p:cNvPr>
          <p:cNvSpPr/>
          <p:nvPr/>
        </p:nvSpPr>
        <p:spPr>
          <a:xfrm>
            <a:off x="635000" y="1841500"/>
            <a:ext cx="3810000" cy="304800"/>
          </a:xfrm>
          <a:prstGeom prst="roundRect">
            <a:avLst>
              <a:gd name="adj" fmla="val 50000"/>
            </a:avLst>
          </a:prstGeom>
          <a:solidFill>
            <a:srgbClr val="112240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25400" rtlCol="0" anchor="ctr"/>
          <a:lstStyle/>
          <a:p>
            <a:pPr algn="ctr"/>
            <a:r>
              <a:rPr lang="en-ID" sz="950" b="1">
                <a:solidFill>
                  <a:srgbClr val="38BDF8"/>
                </a:solidFill>
                <a:latin typeface="Segoe UI" panose="020B0502040204020203" pitchFamily="34" charset="0"/>
              </a:rPr>
              <a:t>LAPORAN KEAMANAN &amp; REGULASI RILIS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D4133-1699-2F82-D492-BC4D328A9FF0}"/>
              </a:ext>
            </a:extLst>
          </p:cNvPr>
          <p:cNvSpPr txBox="1"/>
          <p:nvPr/>
        </p:nvSpPr>
        <p:spPr>
          <a:xfrm>
            <a:off x="635000" y="2286000"/>
            <a:ext cx="10922000" cy="96949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3000" b="1">
                <a:solidFill>
                  <a:srgbClr val="FFFFFF"/>
                </a:solidFill>
                <a:latin typeface="Segoe UI" panose="020B0502040204020203" pitchFamily="34" charset="0"/>
              </a:rPr>
              <a:t>Resume Penerapan Cyber Security &amp;</a:t>
            </a:r>
          </a:p>
          <a:p>
            <a:r>
              <a:rPr lang="en-ID" sz="3000" b="1">
                <a:solidFill>
                  <a:srgbClr val="FFFFFF"/>
                </a:solidFill>
                <a:latin typeface="Segoe UI" panose="020B0502040204020203" pitchFamily="34" charset="0"/>
              </a:rPr>
              <a:t>Kesiapan Publikasi Google Play Store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D2B7E-FF4F-546D-C847-874992D554DE}"/>
              </a:ext>
            </a:extLst>
          </p:cNvPr>
          <p:cNvSpPr txBox="1"/>
          <p:nvPr/>
        </p:nvSpPr>
        <p:spPr>
          <a:xfrm>
            <a:off x="635000" y="3619500"/>
            <a:ext cx="10668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1300">
                <a:solidFill>
                  <a:srgbClr val="CBD5E1"/>
                </a:solidFill>
                <a:latin typeface="Segoe UI" panose="020B0502040204020203" pitchFamily="34" charset="0"/>
              </a:rPr>
              <a:t>Audit Hardening Keamanan Web Backend &amp; Mobile Client, Penetapan Digital Keystore Resmi, serta Penyesuaian Kepatuhan Kebijakan Pengembang Google Play untuk Aplikasi ESA Groups Mobile.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639562-F5B3-214E-1FCC-7D5B5FA0866D}"/>
              </a:ext>
            </a:extLst>
          </p:cNvPr>
          <p:cNvSpPr/>
          <p:nvPr/>
        </p:nvSpPr>
        <p:spPr>
          <a:xfrm>
            <a:off x="635000" y="4889500"/>
            <a:ext cx="3467100" cy="10160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11AD93-0E4D-5BE9-CAE3-09BE8D29B875}"/>
              </a:ext>
            </a:extLst>
          </p:cNvPr>
          <p:cNvSpPr/>
          <p:nvPr/>
        </p:nvSpPr>
        <p:spPr>
          <a:xfrm>
            <a:off x="635000" y="4889500"/>
            <a:ext cx="50800" cy="10160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45EA6-B308-46A8-ADD7-10858524CC88}"/>
              </a:ext>
            </a:extLst>
          </p:cNvPr>
          <p:cNvSpPr txBox="1"/>
          <p:nvPr/>
        </p:nvSpPr>
        <p:spPr>
          <a:xfrm>
            <a:off x="812800" y="4991100"/>
            <a:ext cx="32131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800" b="1">
                <a:solidFill>
                  <a:srgbClr val="38BDF8"/>
                </a:solidFill>
                <a:latin typeface="Segoe UI" panose="020B0502040204020203" pitchFamily="34" charset="0"/>
              </a:rPr>
              <a:t>VERSI &amp; ARTEFAK RILIS</a:t>
            </a:r>
          </a:p>
          <a:p>
            <a:r>
              <a:rPr lang="en-ID" sz="1150" b="1">
                <a:solidFill>
                  <a:srgbClr val="FFFFFF"/>
                </a:solidFill>
                <a:latin typeface="Segoe UI" panose="020B0502040204020203" pitchFamily="34" charset="0"/>
              </a:rPr>
              <a:t>ESA Mobile v1.0.153 (Build 153)</a:t>
            </a:r>
          </a:p>
          <a:p>
            <a:r>
              <a:rPr lang="en-ID" sz="850">
                <a:solidFill>
                  <a:srgbClr val="94A3B8"/>
                </a:solidFill>
                <a:latin typeface="Segoe UI" panose="020B0502040204020203" pitchFamily="34" charset="0"/>
              </a:rPr>
              <a:t>Format: AAB (94 MB) &amp; APK (117 MB)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BF73A1-1C9F-5387-0BC1-2E54C7555A90}"/>
              </a:ext>
            </a:extLst>
          </p:cNvPr>
          <p:cNvSpPr/>
          <p:nvPr/>
        </p:nvSpPr>
        <p:spPr>
          <a:xfrm>
            <a:off x="4356100" y="4889500"/>
            <a:ext cx="3467100" cy="10160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35191E-4233-5D24-313C-CB6A1A1415EC}"/>
              </a:ext>
            </a:extLst>
          </p:cNvPr>
          <p:cNvSpPr/>
          <p:nvPr/>
        </p:nvSpPr>
        <p:spPr>
          <a:xfrm>
            <a:off x="4356100" y="4889500"/>
            <a:ext cx="50800" cy="10160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12CEBB-0519-087A-1281-B470C5747266}"/>
              </a:ext>
            </a:extLst>
          </p:cNvPr>
          <p:cNvSpPr txBox="1"/>
          <p:nvPr/>
        </p:nvSpPr>
        <p:spPr>
          <a:xfrm>
            <a:off x="4533900" y="4991100"/>
            <a:ext cx="32131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38BDF8"/>
                </a:solidFill>
                <a:latin typeface="Segoe UI" panose="020B0502040204020203" pitchFamily="34" charset="0"/>
              </a:rPr>
              <a:t>STATUS HARDENING</a:t>
            </a:r>
          </a:p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Production Hardened &amp; Tested</a:t>
            </a:r>
          </a:p>
          <a:p>
            <a:r>
              <a:rPr lang="en-US" sz="850">
                <a:solidFill>
                  <a:srgbClr val="94A3B8"/>
                </a:solidFill>
                <a:latin typeface="Segoe UI" panose="020B0502040204020203" pitchFamily="34" charset="0"/>
              </a:rPr>
              <a:t>Full HTTPS, Security Headers, R8 Obfuscation</a:t>
            </a:r>
            <a:endParaRPr lang="en-ID" sz="8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E59CCA4-BCB8-58C4-B7B9-92008FFD63F5}"/>
              </a:ext>
            </a:extLst>
          </p:cNvPr>
          <p:cNvSpPr/>
          <p:nvPr/>
        </p:nvSpPr>
        <p:spPr>
          <a:xfrm>
            <a:off x="8077200" y="4889500"/>
            <a:ext cx="3467100" cy="10160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8E95B8-7027-93B2-C218-7CE877E5504E}"/>
              </a:ext>
            </a:extLst>
          </p:cNvPr>
          <p:cNvSpPr/>
          <p:nvPr/>
        </p:nvSpPr>
        <p:spPr>
          <a:xfrm>
            <a:off x="8077200" y="4889500"/>
            <a:ext cx="50800" cy="10160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28FB4A-A319-DCAB-6026-EF81E7D3F962}"/>
              </a:ext>
            </a:extLst>
          </p:cNvPr>
          <p:cNvSpPr txBox="1"/>
          <p:nvPr/>
        </p:nvSpPr>
        <p:spPr>
          <a:xfrm>
            <a:off x="8255000" y="4991100"/>
            <a:ext cx="32131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800" b="1">
                <a:solidFill>
                  <a:srgbClr val="38BDF8"/>
                </a:solidFill>
                <a:latin typeface="Segoe UI" panose="020B0502040204020203" pitchFamily="34" charset="0"/>
              </a:rPr>
              <a:t>TARGET DISTRIBUSI</a:t>
            </a:r>
          </a:p>
          <a:p>
            <a:r>
              <a:rPr lang="en-ID" sz="1150" b="1">
                <a:solidFill>
                  <a:srgbClr val="FFFFFF"/>
                </a:solidFill>
                <a:latin typeface="Segoe UI" panose="020B0502040204020203" pitchFamily="34" charset="0"/>
              </a:rPr>
              <a:t>Google Play Store Console</a:t>
            </a:r>
          </a:p>
          <a:p>
            <a:r>
              <a:rPr lang="en-ID" sz="850">
                <a:solidFill>
                  <a:srgbClr val="94A3B8"/>
                </a:solidFill>
                <a:latin typeface="Segoe UI" panose="020B0502040204020203" pitchFamily="34" charset="0"/>
              </a:rPr>
              <a:t>PT Arina Multi Karya (Induk), PT AKP, PT ATK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A05305-4157-85D9-EFC6-86A7DBB48260}"/>
              </a:ext>
            </a:extLst>
          </p:cNvPr>
          <p:cNvSpPr txBox="1"/>
          <p:nvPr/>
        </p:nvSpPr>
        <p:spPr>
          <a:xfrm>
            <a:off x="635000" y="6324600"/>
            <a:ext cx="10922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950">
                <a:solidFill>
                  <a:srgbClr val="64748B"/>
                </a:solidFill>
                <a:latin typeface="Segoe UI" panose="020B0502040204020203" pitchFamily="34" charset="0"/>
              </a:rPr>
              <a:t>ESA Groups Security Taskforce  |  Dokumentasi Teknis Rilis Produksi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08710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28A6C4-29E0-EE37-383E-F6B21C7CAA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08D6C0-3719-08CE-5D83-905CC06831F8}"/>
              </a:ext>
            </a:extLst>
          </p:cNvPr>
          <p:cNvSpPr/>
          <p:nvPr/>
        </p:nvSpPr>
        <p:spPr>
          <a:xfrm>
            <a:off x="635000" y="279400"/>
            <a:ext cx="2794000" cy="254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2700" rIns="101600" bIns="12700"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RINGKASAN EKSEKUTIF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28F293-97B1-2A41-BF84-2294BA311C55}"/>
              </a:ext>
            </a:extLst>
          </p:cNvPr>
          <p:cNvSpPr txBox="1"/>
          <p:nvPr/>
        </p:nvSpPr>
        <p:spPr>
          <a:xfrm>
            <a:off x="635000" y="571500"/>
            <a:ext cx="9525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2000" b="1">
                <a:solidFill>
                  <a:srgbClr val="0F172A"/>
                </a:solidFill>
                <a:latin typeface="Segoe UI" panose="020B0502040204020203" pitchFamily="34" charset="0"/>
              </a:rPr>
              <a:t>Status Kesiapan Keamanan &amp; Kepatuhan Rilis Aplikasi ESA Mobile</a:t>
            </a:r>
            <a:endParaRPr lang="en-ID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6FE14-0353-B87B-CF16-CB7D0C995D01}"/>
              </a:ext>
            </a:extLst>
          </p:cNvPr>
          <p:cNvSpPr txBox="1"/>
          <p:nvPr/>
        </p:nvSpPr>
        <p:spPr>
          <a:xfrm>
            <a:off x="635000" y="952500"/>
            <a:ext cx="9525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1050">
                <a:solidFill>
                  <a:srgbClr val="64748B"/>
                </a:solidFill>
                <a:latin typeface="Segoe UI" panose="020B0502040204020203" pitchFamily="34" charset="0"/>
              </a:rPr>
              <a:t>Konsolidasi menyeluruh penguatan keamanan sistem backend, stabilitas digital signature, dan regulasi Google Play Store.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6CD966-BCE6-907C-BDD7-3B2193759340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DCEC585-0A75-7017-0AFC-1A61DE9EA6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0" y="279400"/>
            <a:ext cx="1079500" cy="5715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44A2FC-DE62-4737-FCC0-A314CAF2B89C}"/>
              </a:ext>
            </a:extLst>
          </p:cNvPr>
          <p:cNvCxnSpPr/>
          <p:nvPr/>
        </p:nvCxnSpPr>
        <p:spPr>
          <a:xfrm>
            <a:off x="635000" y="63246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CD2E8B3-D441-03AD-BE12-13B035A918C5}"/>
              </a:ext>
            </a:extLst>
          </p:cNvPr>
          <p:cNvSpPr txBox="1"/>
          <p:nvPr/>
        </p:nvSpPr>
        <p:spPr>
          <a:xfrm>
            <a:off x="635000" y="6426200"/>
            <a:ext cx="698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900">
                <a:solidFill>
                  <a:srgbClr val="64748B"/>
                </a:solidFill>
                <a:latin typeface="Segoe UI" panose="020B0502040204020203" pitchFamily="34" charset="0"/>
              </a:rPr>
              <a:t>ESA Groups Mobile  |  Resume Penerapan Cyber Security &amp; Kesiapan Publikasi Play 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CF419C-DD4E-968A-41C2-F946D68BA36C}"/>
              </a:ext>
            </a:extLst>
          </p:cNvPr>
          <p:cNvSpPr txBox="1"/>
          <p:nvPr/>
        </p:nvSpPr>
        <p:spPr>
          <a:xfrm>
            <a:off x="9525000" y="6426200"/>
            <a:ext cx="2032000" cy="184666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Slide 2 of 10  |  v1.0.153</a:t>
            </a:r>
            <a:endParaRPr lang="en-ID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1FE867-256A-A99E-0226-4DA1FB29880B}"/>
              </a:ext>
            </a:extLst>
          </p:cNvPr>
          <p:cNvSpPr/>
          <p:nvPr/>
        </p:nvSpPr>
        <p:spPr>
          <a:xfrm>
            <a:off x="635000" y="1422400"/>
            <a:ext cx="2540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2B3969-C373-18FB-1C5B-B3836F44A9E0}"/>
              </a:ext>
            </a:extLst>
          </p:cNvPr>
          <p:cNvSpPr/>
          <p:nvPr/>
        </p:nvSpPr>
        <p:spPr>
          <a:xfrm>
            <a:off x="635000" y="1422400"/>
            <a:ext cx="2540000" cy="508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83FE70-5E5E-424B-00DD-A29F4C7D910B}"/>
              </a:ext>
            </a:extLst>
          </p:cNvPr>
          <p:cNvSpPr txBox="1"/>
          <p:nvPr/>
        </p:nvSpPr>
        <p:spPr>
          <a:xfrm>
            <a:off x="762000" y="1524000"/>
            <a:ext cx="2286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50" b="1">
                <a:solidFill>
                  <a:srgbClr val="0284C7"/>
                </a:solidFill>
                <a:latin typeface="Segoe UI" panose="020B0502040204020203" pitchFamily="34" charset="0"/>
              </a:rPr>
              <a:t>100% SECURE</a:t>
            </a:r>
          </a:p>
          <a:p>
            <a:r>
              <a:rPr lang="en-US" sz="950" b="1">
                <a:solidFill>
                  <a:srgbClr val="0F172A"/>
                </a:solidFill>
                <a:latin typeface="Segoe UI" panose="020B0502040204020203" pitchFamily="34" charset="0"/>
              </a:rPr>
              <a:t>Backend &amp; Web Panel</a:t>
            </a:r>
          </a:p>
          <a:p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Zero Backdoor &amp; Full Headers</a:t>
            </a:r>
            <a:endParaRPr lang="en-ID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6DDBCA-D4F7-CE50-BD05-2838E11FED4B}"/>
              </a:ext>
            </a:extLst>
          </p:cNvPr>
          <p:cNvSpPr/>
          <p:nvPr/>
        </p:nvSpPr>
        <p:spPr>
          <a:xfrm>
            <a:off x="3429000" y="1422400"/>
            <a:ext cx="2540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855109-94D5-971A-38AC-38D0A22A92D3}"/>
              </a:ext>
            </a:extLst>
          </p:cNvPr>
          <p:cNvSpPr/>
          <p:nvPr/>
        </p:nvSpPr>
        <p:spPr>
          <a:xfrm>
            <a:off x="3429000" y="1422400"/>
            <a:ext cx="2540000" cy="508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BF0530-3E6C-1A57-6292-454F7D3029E6}"/>
              </a:ext>
            </a:extLst>
          </p:cNvPr>
          <p:cNvSpPr txBox="1"/>
          <p:nvPr/>
        </p:nvSpPr>
        <p:spPr>
          <a:xfrm>
            <a:off x="3556000" y="1524000"/>
            <a:ext cx="2286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50" b="1">
                <a:solidFill>
                  <a:srgbClr val="059669"/>
                </a:solidFill>
                <a:latin typeface="Segoe UI" panose="020B0502040204020203" pitchFamily="34" charset="0"/>
              </a:rPr>
              <a:t>OFFICIAL KEY</a:t>
            </a:r>
          </a:p>
          <a:p>
            <a:r>
              <a:rPr lang="en-US" sz="950" b="1">
                <a:solidFill>
                  <a:srgbClr val="0F172A"/>
                </a:solidFill>
                <a:latin typeface="Segoe UI" panose="020B0502040204020203" pitchFamily="34" charset="0"/>
              </a:rPr>
              <a:t>Digital Keystore</a:t>
            </a:r>
          </a:p>
          <a:p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PKCS12 RSA 2048-bit (s/d 2054)</a:t>
            </a:r>
            <a:endParaRPr lang="en-ID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90C8A6A-627F-C20E-473D-74997D762683}"/>
              </a:ext>
            </a:extLst>
          </p:cNvPr>
          <p:cNvSpPr/>
          <p:nvPr/>
        </p:nvSpPr>
        <p:spPr>
          <a:xfrm>
            <a:off x="6223000" y="1422400"/>
            <a:ext cx="2540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3E2E40-B903-8FB6-7EED-D51C7AEC5474}"/>
              </a:ext>
            </a:extLst>
          </p:cNvPr>
          <p:cNvSpPr/>
          <p:nvPr/>
        </p:nvSpPr>
        <p:spPr>
          <a:xfrm>
            <a:off x="6223000" y="1422400"/>
            <a:ext cx="2540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4448AC-2D69-C33F-3024-CDCB615A18B4}"/>
              </a:ext>
            </a:extLst>
          </p:cNvPr>
          <p:cNvSpPr txBox="1"/>
          <p:nvPr/>
        </p:nvSpPr>
        <p:spPr>
          <a:xfrm>
            <a:off x="6350000" y="1524000"/>
            <a:ext cx="2286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50" b="1">
                <a:solidFill>
                  <a:srgbClr val="7C3AED"/>
                </a:solidFill>
                <a:latin typeface="Segoe UI" panose="020B0502040204020203" pitchFamily="34" charset="0"/>
              </a:rPr>
              <a:t>COMPLIANT</a:t>
            </a:r>
          </a:p>
          <a:p>
            <a:r>
              <a:rPr lang="en-US" sz="950" b="1">
                <a:solidFill>
                  <a:srgbClr val="0F172A"/>
                </a:solidFill>
                <a:latin typeface="Segoe UI" panose="020B0502040204020203" pitchFamily="34" charset="0"/>
              </a:rPr>
              <a:t>Google Play Policy</a:t>
            </a:r>
          </a:p>
          <a:p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Privacy Policy &amp; In-App Disclosure</a:t>
            </a:r>
            <a:endParaRPr lang="en-ID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CA0B2DE-7A16-EF7E-55FF-7E8BA2765F13}"/>
              </a:ext>
            </a:extLst>
          </p:cNvPr>
          <p:cNvSpPr/>
          <p:nvPr/>
        </p:nvSpPr>
        <p:spPr>
          <a:xfrm>
            <a:off x="9017000" y="1422400"/>
            <a:ext cx="2540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C29AAB-B787-C2A4-8789-AE4D05CA1D12}"/>
              </a:ext>
            </a:extLst>
          </p:cNvPr>
          <p:cNvSpPr/>
          <p:nvPr/>
        </p:nvSpPr>
        <p:spPr>
          <a:xfrm>
            <a:off x="9017000" y="1422400"/>
            <a:ext cx="2540000" cy="508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6BD5BE-6AEF-4063-3DCE-4AA7D312449C}"/>
              </a:ext>
            </a:extLst>
          </p:cNvPr>
          <p:cNvSpPr txBox="1"/>
          <p:nvPr/>
        </p:nvSpPr>
        <p:spPr>
          <a:xfrm>
            <a:off x="9144000" y="1524000"/>
            <a:ext cx="2286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1350" b="1">
                <a:solidFill>
                  <a:srgbClr val="D97706"/>
                </a:solidFill>
                <a:latin typeface="Segoe UI" panose="020B0502040204020203" pitchFamily="34" charset="0"/>
              </a:rPr>
              <a:t>OPERASIONAL</a:t>
            </a:r>
          </a:p>
          <a:p>
            <a:r>
              <a:rPr lang="en-ID" sz="950" b="1">
                <a:solidFill>
                  <a:srgbClr val="0F172A"/>
                </a:solidFill>
                <a:latin typeface="Segoe UI" panose="020B0502040204020203" pitchFamily="34" charset="0"/>
              </a:rPr>
              <a:t>Geofencing &amp; Tracking</a:t>
            </a:r>
          </a:p>
          <a:p>
            <a:r>
              <a:rPr lang="en-ID" sz="800">
                <a:solidFill>
                  <a:srgbClr val="64748B"/>
                </a:solidFill>
                <a:latin typeface="Segoe UI" panose="020B0502040204020203" pitchFamily="34" charset="0"/>
              </a:rPr>
              <a:t>100% Aktif via Foreground Svc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842FA56-F1EA-ED8E-5FD2-96EE923F6A4E}"/>
              </a:ext>
            </a:extLst>
          </p:cNvPr>
          <p:cNvSpPr/>
          <p:nvPr/>
        </p:nvSpPr>
        <p:spPr>
          <a:xfrm>
            <a:off x="635000" y="2489200"/>
            <a:ext cx="53086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6336D2-DB1F-C323-F81C-411725943FD8}"/>
              </a:ext>
            </a:extLst>
          </p:cNvPr>
          <p:cNvSpPr/>
          <p:nvPr/>
        </p:nvSpPr>
        <p:spPr>
          <a:xfrm>
            <a:off x="635000" y="2489200"/>
            <a:ext cx="5308600" cy="508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9F863B-5C25-5F62-3DEF-7BE8E80754F6}"/>
              </a:ext>
            </a:extLst>
          </p:cNvPr>
          <p:cNvSpPr txBox="1"/>
          <p:nvPr/>
        </p:nvSpPr>
        <p:spPr>
          <a:xfrm>
            <a:off x="863600" y="2616200"/>
            <a:ext cx="48514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1300" b="1">
                <a:solidFill>
                  <a:srgbClr val="0284C7"/>
                </a:solidFill>
                <a:latin typeface="Segoe UI" panose="020B0502040204020203" pitchFamily="34" charset="0"/>
              </a:rPr>
              <a:t>Transformasi Penguatan Cyber Security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161867-499E-0ED7-D0D2-B1BE63553390}"/>
              </a:ext>
            </a:extLst>
          </p:cNvPr>
          <p:cNvSpPr txBox="1"/>
          <p:nvPr/>
        </p:nvSpPr>
        <p:spPr>
          <a:xfrm>
            <a:off x="863600" y="2971800"/>
            <a:ext cx="4851400" cy="212365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[1] Penutupan Seluruh Celah Bypass:
Menghapus total route debug, login bypass, serta isolasi ketat hak akses Filament Web Panel dan otorisasi API Sanctum.
[2] Pembersihan Direktori Publik:
Mengeliminasi seluruh skrip diagnostik/investigasi dari folder public/ serta mengunci file sensitif (.env, .git, storage) via .htaccess.
[3] Security Headers Middleware:
Penerapan HSTS, X-Frame-Options (SAMEORIGIN), dan X-Content-Type-Options (nosniff) untuk menangkal serangan Clickjacking &amp; MIME exploits.
[4] Hardening Mobile App:
Enforce komunikasi full HTTPS (usesCleartextTraffic=false) dan R8/Proguard code obfuscation guna mencegah dekompilasi aplikasi.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0EC757F-C80D-1447-DD03-9B197857B4B5}"/>
              </a:ext>
            </a:extLst>
          </p:cNvPr>
          <p:cNvSpPr/>
          <p:nvPr/>
        </p:nvSpPr>
        <p:spPr>
          <a:xfrm>
            <a:off x="6248400" y="2489200"/>
            <a:ext cx="53086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E17F1D-775C-9E74-939D-5DEFEA222F92}"/>
              </a:ext>
            </a:extLst>
          </p:cNvPr>
          <p:cNvSpPr/>
          <p:nvPr/>
        </p:nvSpPr>
        <p:spPr>
          <a:xfrm>
            <a:off x="6248400" y="2489200"/>
            <a:ext cx="5308600" cy="508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2D39BE-D000-22AF-5036-678BCE88F9B8}"/>
              </a:ext>
            </a:extLst>
          </p:cNvPr>
          <p:cNvSpPr txBox="1"/>
          <p:nvPr/>
        </p:nvSpPr>
        <p:spPr>
          <a:xfrm>
            <a:off x="6477000" y="2616200"/>
            <a:ext cx="48514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300" b="1">
                <a:solidFill>
                  <a:srgbClr val="059669"/>
                </a:solidFill>
                <a:latin typeface="Segoe UI" panose="020B0502040204020203" pitchFamily="34" charset="0"/>
              </a:rPr>
              <a:t>Kepatuhan Google Play &amp; Stabilitas Rilis</a:t>
            </a:r>
            <a:endParaRPr lang="en-ID" sz="1300" b="1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F544C6-0342-0C2E-908F-F51329A6BEC8}"/>
              </a:ext>
            </a:extLst>
          </p:cNvPr>
          <p:cNvSpPr txBox="1"/>
          <p:nvPr/>
        </p:nvSpPr>
        <p:spPr>
          <a:xfrm>
            <a:off x="6477000" y="2971800"/>
            <a:ext cx="4851400" cy="212365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[1] Eliminasi Bentrok Paket (Signature Conflict):
Penerapan Keystore Produksi upload-keystore.jks (RSA 2048-bit) permanen menghilangkan error INSTALL_FAILED_UPDATE_INCOMPATIBLE.
[2] Kebijakan Play Store 100% Terpenuhi:
Menonaktifkan self-updating APK ilegal, menghapus izin background location terlarang, dan menerapkan Prominent In-App Disclosure.
[3] Privacy Policy Resmi Aktif:
Tersedia dokumen kebijakan privasi lengkap di domain utama: https://esa-solutions.id/privacy-policy (Status HTTP 200 OK).
[4] Sinkronisasi 3 Server Produksi:
Seluruh pembaruan telah ter-deploy ke AMK, AKP, dan ATK dengan Health Check sukses dan auto-reload service PHP-FPM.</a:t>
            </a:r>
          </a:p>
        </p:txBody>
      </p:sp>
    </p:spTree>
    <p:extLst>
      <p:ext uri="{BB962C8B-B14F-4D97-AF65-F5344CB8AC3E}">
        <p14:creationId xmlns:p14="http://schemas.microsoft.com/office/powerpoint/2010/main" val="2443798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2FFB9D-BB37-ED07-CBE7-A47516DBF3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E193D1-45B5-65FF-B02C-3A33AC000A0E}"/>
              </a:ext>
            </a:extLst>
          </p:cNvPr>
          <p:cNvSpPr/>
          <p:nvPr/>
        </p:nvSpPr>
        <p:spPr>
          <a:xfrm>
            <a:off x="635000" y="279400"/>
            <a:ext cx="2794000" cy="254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2700" rIns="101600" bIns="12700"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CYBER SECURITY | BACKEND &amp; WEB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89DF1-D6A8-D90B-27A6-E31BA83FE150}"/>
              </a:ext>
            </a:extLst>
          </p:cNvPr>
          <p:cNvSpPr txBox="1"/>
          <p:nvPr/>
        </p:nvSpPr>
        <p:spPr>
          <a:xfrm>
            <a:off x="635000" y="571500"/>
            <a:ext cx="9525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2000" b="1">
                <a:solidFill>
                  <a:srgbClr val="0F172A"/>
                </a:solidFill>
                <a:latin typeface="Segoe UI" panose="020B0502040204020203" pitchFamily="34" charset="0"/>
              </a:rPr>
              <a:t>Penguatan Lapisan Keamanan Server &amp; API Laravel Filament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3C34E-570A-8261-60F8-1584B7FB8F3D}"/>
              </a:ext>
            </a:extLst>
          </p:cNvPr>
          <p:cNvSpPr txBox="1"/>
          <p:nvPr/>
        </p:nvSpPr>
        <p:spPr>
          <a:xfrm>
            <a:off x="635000" y="952500"/>
            <a:ext cx="9525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1050">
                <a:solidFill>
                  <a:srgbClr val="64748B"/>
                </a:solidFill>
                <a:latin typeface="Segoe UI" panose="020B0502040204020203" pitchFamily="34" charset="0"/>
              </a:rPr>
              <a:t>Mitigasi kerentanan informasi, perlindungan endpoint API, dan isolasi aset sistem dari akses tidak sah.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5399D2-9632-6981-FC39-862A28C92E84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4742874-A30B-28C2-CFBA-89D3588E79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0" y="279400"/>
            <a:ext cx="1079500" cy="5715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0F01DA-DAB9-36AA-B882-C47C51ACBDF5}"/>
              </a:ext>
            </a:extLst>
          </p:cNvPr>
          <p:cNvCxnSpPr/>
          <p:nvPr/>
        </p:nvCxnSpPr>
        <p:spPr>
          <a:xfrm>
            <a:off x="635000" y="63246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37D137-45CB-D73E-8CC7-C349B3B4D431}"/>
              </a:ext>
            </a:extLst>
          </p:cNvPr>
          <p:cNvSpPr txBox="1"/>
          <p:nvPr/>
        </p:nvSpPr>
        <p:spPr>
          <a:xfrm>
            <a:off x="635000" y="6426200"/>
            <a:ext cx="698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900">
                <a:solidFill>
                  <a:srgbClr val="64748B"/>
                </a:solidFill>
                <a:latin typeface="Segoe UI" panose="020B0502040204020203" pitchFamily="34" charset="0"/>
              </a:rPr>
              <a:t>ESA Groups Mobile  |  Resume Penerapan Cyber Security &amp; Kesiapan Publikasi Play 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A136D7-2ECC-EDA1-50F7-2CB17EB5924E}"/>
              </a:ext>
            </a:extLst>
          </p:cNvPr>
          <p:cNvSpPr txBox="1"/>
          <p:nvPr/>
        </p:nvSpPr>
        <p:spPr>
          <a:xfrm>
            <a:off x="9525000" y="6426200"/>
            <a:ext cx="2032000" cy="184666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Slide 3 of 10  |  v1.0.153</a:t>
            </a:r>
            <a:endParaRPr lang="en-ID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343FBB-E099-3660-7052-9907A552A0C3}"/>
              </a:ext>
            </a:extLst>
          </p:cNvPr>
          <p:cNvSpPr/>
          <p:nvPr/>
        </p:nvSpPr>
        <p:spPr>
          <a:xfrm>
            <a:off x="6350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1F0ABE-B42B-B05A-995F-F12724F747AC}"/>
              </a:ext>
            </a:extLst>
          </p:cNvPr>
          <p:cNvSpPr/>
          <p:nvPr/>
        </p:nvSpPr>
        <p:spPr>
          <a:xfrm>
            <a:off x="635000" y="1422400"/>
            <a:ext cx="3467100" cy="635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815E90-26C9-0153-C02B-49D31468062C}"/>
              </a:ext>
            </a:extLst>
          </p:cNvPr>
          <p:cNvSpPr txBox="1"/>
          <p:nvPr/>
        </p:nvSpPr>
        <p:spPr>
          <a:xfrm>
            <a:off x="8128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00" b="1">
                <a:solidFill>
                  <a:srgbClr val="0284C7"/>
                </a:solidFill>
                <a:latin typeface="Segoe UI" panose="020B0502040204020203" pitchFamily="34" charset="0"/>
              </a:rPr>
              <a:t>PENUTUPAN CELAH AKSES</a:t>
            </a:r>
          </a:p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Penutupan Backdoor &amp; Debug Routes</a:t>
            </a:r>
            <a:endParaRPr lang="en-ID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E4469F-547C-D8A0-3F0F-B81457075433}"/>
              </a:ext>
            </a:extLst>
          </p:cNvPr>
          <p:cNvSpPr txBox="1"/>
          <p:nvPr/>
        </p:nvSpPr>
        <p:spPr>
          <a:xfrm>
            <a:off x="812800" y="2235200"/>
            <a:ext cx="3111500" cy="170816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Penghapusan Route Testing:
  Seluruh route dev seperti /debug-login, /dev-bypass, dan bypass otentikasi telah dihapus sepenuhnya dari kode sumber.
- Sanctum Bearer Token Auth:
  Semua endpoint API dilindungi token otentikasi Sanctum dengan masa berlaku terkelola dan verifikasi ketat.
- Filament RBAC Hardening:
  Hak akses web admin panel dibatasi hanya untuk user resmi dengan otorisasi role terverifikasi.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C4F6C0-7490-4044-61F9-E76127CDCDC1}"/>
              </a:ext>
            </a:extLst>
          </p:cNvPr>
          <p:cNvSpPr/>
          <p:nvPr/>
        </p:nvSpPr>
        <p:spPr>
          <a:xfrm>
            <a:off x="8128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STATUS: TERTUTUP (SECURE)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A148B8-640A-FADB-F066-79A0EAE7B04D}"/>
              </a:ext>
            </a:extLst>
          </p:cNvPr>
          <p:cNvSpPr/>
          <p:nvPr/>
        </p:nvSpPr>
        <p:spPr>
          <a:xfrm>
            <a:off x="43561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1C7122-9084-CBA5-D7A1-FBAB3A32A8B4}"/>
              </a:ext>
            </a:extLst>
          </p:cNvPr>
          <p:cNvSpPr/>
          <p:nvPr/>
        </p:nvSpPr>
        <p:spPr>
          <a:xfrm>
            <a:off x="4356100" y="1422400"/>
            <a:ext cx="3467100" cy="63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B43E0D-CF81-C201-4C82-F72B9CC170D7}"/>
              </a:ext>
            </a:extLst>
          </p:cNvPr>
          <p:cNvSpPr txBox="1"/>
          <p:nvPr/>
        </p:nvSpPr>
        <p:spPr>
          <a:xfrm>
            <a:off x="45339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800" b="1">
                <a:solidFill>
                  <a:srgbClr val="7C3AED"/>
                </a:solidFill>
                <a:latin typeface="Segoe UI" panose="020B0502040204020203" pitchFamily="34" charset="0"/>
              </a:rPr>
              <a:t>ISOLASI ASSET SENSITIF</a:t>
            </a:r>
          </a:p>
          <a:p>
            <a:r>
              <a:rPr lang="en-ID" sz="1200" b="1">
                <a:solidFill>
                  <a:srgbClr val="0F172A"/>
                </a:solidFill>
                <a:latin typeface="Segoe UI" panose="020B0502040204020203" pitchFamily="34" charset="0"/>
              </a:rPr>
              <a:t>Pembersihan &amp; Proteksi File Publik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404705-5574-77A1-C667-5351610F207B}"/>
              </a:ext>
            </a:extLst>
          </p:cNvPr>
          <p:cNvSpPr txBox="1"/>
          <p:nvPr/>
        </p:nvSpPr>
        <p:spPr>
          <a:xfrm>
            <a:off x="4533900" y="2235200"/>
            <a:ext cx="3111500" cy="170816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Karantina Skrip Diagnostik:
  Menghapus skrip investigasi database dan skrip ad-hoc dari folder public/ guna mencegah kebocoran informasi.
- Rule Blokir Web Server:
  Memperketat konfigurasi .htaccess &amp; Nginx untuk memblokir akses ke file .env, repositori .git, dan folder logs.
- Sanitasi Input &amp; Parameter:
  Memastikan query database menggunakan binding prepared statement untuk mencegah serangan SQL Injection.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181231-2BBE-6D77-9421-1A11FBC254DF}"/>
              </a:ext>
            </a:extLst>
          </p:cNvPr>
          <p:cNvSpPr/>
          <p:nvPr/>
        </p:nvSpPr>
        <p:spPr>
          <a:xfrm>
            <a:off x="45339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7C3AED"/>
                </a:solidFill>
                <a:latin typeface="Segoe UI" panose="020B0502040204020203" pitchFamily="34" charset="0"/>
              </a:rPr>
              <a:t>STATUS: TERISOLASI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F00EB5A-3627-E29B-46AA-632F2D0C4D78}"/>
              </a:ext>
            </a:extLst>
          </p:cNvPr>
          <p:cNvSpPr/>
          <p:nvPr/>
        </p:nvSpPr>
        <p:spPr>
          <a:xfrm>
            <a:off x="80772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0B00A0-9145-31AB-5D20-99FCCF880F39}"/>
              </a:ext>
            </a:extLst>
          </p:cNvPr>
          <p:cNvSpPr/>
          <p:nvPr/>
        </p:nvSpPr>
        <p:spPr>
          <a:xfrm>
            <a:off x="8077200" y="1422400"/>
            <a:ext cx="3467100" cy="635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0D91C1-07D5-E451-074A-67CC94522559}"/>
              </a:ext>
            </a:extLst>
          </p:cNvPr>
          <p:cNvSpPr txBox="1"/>
          <p:nvPr/>
        </p:nvSpPr>
        <p:spPr>
          <a:xfrm>
            <a:off x="82550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00" b="1">
                <a:solidFill>
                  <a:srgbClr val="059669"/>
                </a:solidFill>
                <a:latin typeface="Segoe UI" panose="020B0502040204020203" pitchFamily="34" charset="0"/>
              </a:rPr>
              <a:t>PROTEKSI PROTOKOL</a:t>
            </a:r>
          </a:p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Security Headers Middleware</a:t>
            </a:r>
            <a:endParaRPr lang="en-ID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4678B0-3011-0F28-81AC-5B8502834A46}"/>
              </a:ext>
            </a:extLst>
          </p:cNvPr>
          <p:cNvSpPr txBox="1"/>
          <p:nvPr/>
        </p:nvSpPr>
        <p:spPr>
          <a:xfrm>
            <a:off x="8255000" y="2235200"/>
            <a:ext cx="3111500" cy="156966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X-Frame-Options: SAMEORIGIN
  Mencegah serangan Clickjacking dan pencegahan embedding pada iframe situs pihak ketiga.
- X-Content-Type-Options: nosniff
  Menolak browser mengeksekusi payload berkedok tipe file MIME yang dimanipulasi.
- Strict-Transport-Security (HSTS)
  Memaksa seluruh traffic berkomunikasi via koneksi SSL/TLS terenkripsi penuh.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53D8DD9-AF7E-196B-125A-7B1FE5D92D79}"/>
              </a:ext>
            </a:extLst>
          </p:cNvPr>
          <p:cNvSpPr/>
          <p:nvPr/>
        </p:nvSpPr>
        <p:spPr>
          <a:xfrm>
            <a:off x="82550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059669"/>
                </a:solidFill>
                <a:latin typeface="Segoe UI" panose="020B0502040204020203" pitchFamily="34" charset="0"/>
              </a:rPr>
              <a:t>STATUS: A+ SECURITY RATING</a:t>
            </a:r>
          </a:p>
        </p:txBody>
      </p:sp>
    </p:spTree>
    <p:extLst>
      <p:ext uri="{BB962C8B-B14F-4D97-AF65-F5344CB8AC3E}">
        <p14:creationId xmlns:p14="http://schemas.microsoft.com/office/powerpoint/2010/main" val="2664569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852A87-EB75-FD78-57F3-40814F53D1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187577-92CF-9855-8176-64003F3EC9F8}"/>
              </a:ext>
            </a:extLst>
          </p:cNvPr>
          <p:cNvSpPr/>
          <p:nvPr/>
        </p:nvSpPr>
        <p:spPr>
          <a:xfrm>
            <a:off x="635000" y="279400"/>
            <a:ext cx="2794000" cy="254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2700" rIns="101600" bIns="12700"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CYBER SECURITY | MOBILE CLIENT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FC735-98BE-CAB1-9709-5205CAB5CEC5}"/>
              </a:ext>
            </a:extLst>
          </p:cNvPr>
          <p:cNvSpPr txBox="1"/>
          <p:nvPr/>
        </p:nvSpPr>
        <p:spPr>
          <a:xfrm>
            <a:off x="635000" y="571500"/>
            <a:ext cx="9525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2000" b="1">
                <a:solidFill>
                  <a:srgbClr val="0F172A"/>
                </a:solidFill>
                <a:latin typeface="Segoe UI" panose="020B0502040204020203" pitchFamily="34" charset="0"/>
              </a:rPr>
              <a:t>Proteksi Client-Side, Enkripsi Jaringan, &amp; Anti-Reverse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FA231-1E56-468F-4245-9B857429645B}"/>
              </a:ext>
            </a:extLst>
          </p:cNvPr>
          <p:cNvSpPr txBox="1"/>
          <p:nvPr/>
        </p:nvSpPr>
        <p:spPr>
          <a:xfrm>
            <a:off x="635000" y="952500"/>
            <a:ext cx="9525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1050">
                <a:solidFill>
                  <a:srgbClr val="64748B"/>
                </a:solidFill>
                <a:latin typeface="Segoe UI" panose="020B0502040204020203" pitchFamily="34" charset="0"/>
              </a:rPr>
              <a:t>Hardening aplikasi Flutter Android untuk melindungi kode sumber, kredensial, dan integritas data transaksi absensi.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3B207F-F7A7-13B8-1B72-25BF0A8DC7C7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F564375-7DC8-15E7-E581-2BC419C11D2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0" y="279400"/>
            <a:ext cx="1079500" cy="5715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41A0B3-EF40-F178-B636-5722DA79CB5D}"/>
              </a:ext>
            </a:extLst>
          </p:cNvPr>
          <p:cNvCxnSpPr/>
          <p:nvPr/>
        </p:nvCxnSpPr>
        <p:spPr>
          <a:xfrm>
            <a:off x="635000" y="63246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4C38ED-4DC0-8AA9-A5B4-95E0140044D0}"/>
              </a:ext>
            </a:extLst>
          </p:cNvPr>
          <p:cNvSpPr txBox="1"/>
          <p:nvPr/>
        </p:nvSpPr>
        <p:spPr>
          <a:xfrm>
            <a:off x="635000" y="6426200"/>
            <a:ext cx="698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900">
                <a:solidFill>
                  <a:srgbClr val="64748B"/>
                </a:solidFill>
                <a:latin typeface="Segoe UI" panose="020B0502040204020203" pitchFamily="34" charset="0"/>
              </a:rPr>
              <a:t>ESA Groups Mobile  |  Resume Penerapan Cyber Security &amp; Kesiapan Publikasi Play 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9671D3-997C-099D-DC91-E37B602E7E61}"/>
              </a:ext>
            </a:extLst>
          </p:cNvPr>
          <p:cNvSpPr txBox="1"/>
          <p:nvPr/>
        </p:nvSpPr>
        <p:spPr>
          <a:xfrm>
            <a:off x="9525000" y="6426200"/>
            <a:ext cx="2032000" cy="184666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Slide 4 of 10  |  v1.0.153</a:t>
            </a:r>
            <a:endParaRPr lang="en-ID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8D042F-2FE8-E5A1-AF76-61F15FF8995F}"/>
              </a:ext>
            </a:extLst>
          </p:cNvPr>
          <p:cNvSpPr/>
          <p:nvPr/>
        </p:nvSpPr>
        <p:spPr>
          <a:xfrm>
            <a:off x="6350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C5CAD0-15E6-E025-91B2-FD1A7515415F}"/>
              </a:ext>
            </a:extLst>
          </p:cNvPr>
          <p:cNvSpPr/>
          <p:nvPr/>
        </p:nvSpPr>
        <p:spPr>
          <a:xfrm>
            <a:off x="635000" y="1422400"/>
            <a:ext cx="3467100" cy="635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76C41-B52F-2701-E30B-62DD4D668F6C}"/>
              </a:ext>
            </a:extLst>
          </p:cNvPr>
          <p:cNvSpPr txBox="1"/>
          <p:nvPr/>
        </p:nvSpPr>
        <p:spPr>
          <a:xfrm>
            <a:off x="8128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00" b="1">
                <a:solidFill>
                  <a:srgbClr val="0284C7"/>
                </a:solidFill>
                <a:latin typeface="Segoe UI" panose="020B0502040204020203" pitchFamily="34" charset="0"/>
              </a:rPr>
              <a:t>ENKRIPSI TRAFFIC DATA</a:t>
            </a:r>
          </a:p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Full HTTPS Enforced (Anti-MitM)</a:t>
            </a:r>
            <a:endParaRPr lang="en-ID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2A1E7A-42A7-5319-4D8E-1989A8672912}"/>
              </a:ext>
            </a:extLst>
          </p:cNvPr>
          <p:cNvSpPr txBox="1"/>
          <p:nvPr/>
        </p:nvSpPr>
        <p:spPr>
          <a:xfrm>
            <a:off x="812800" y="2235200"/>
            <a:ext cx="3111500" cy="170816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android:usesCleartextTraffic='false'
  Ditetapkan di AndroidManifest.xml untuk memblokir seluruh koneksi HTTP tanpa enkripsi.
- Proteksi di Jaringan Terbuka:
  Mencegah serangan Man-in-the-Middle (MitM) dan sniffing data koordinat GPS, foto selfie, serta password saat menggunakan Wi-Fi publik.
- Standar TLS 1.3 Transport:
  Menjamin seluruh komunikasi payload transaksi absensi terenkripsi end-to-end ke server ESA.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417F22-9AF5-7175-311C-EE15E79E484F}"/>
              </a:ext>
            </a:extLst>
          </p:cNvPr>
          <p:cNvSpPr/>
          <p:nvPr/>
        </p:nvSpPr>
        <p:spPr>
          <a:xfrm>
            <a:off x="8128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STATUS: CLEAR TEXT BLOCKED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74A5C0-C24B-DF14-4BD6-D3A33047FD9E}"/>
              </a:ext>
            </a:extLst>
          </p:cNvPr>
          <p:cNvSpPr/>
          <p:nvPr/>
        </p:nvSpPr>
        <p:spPr>
          <a:xfrm>
            <a:off x="43561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FC3BB2-8DF5-BB74-ED1A-FD7728C17759}"/>
              </a:ext>
            </a:extLst>
          </p:cNvPr>
          <p:cNvSpPr/>
          <p:nvPr/>
        </p:nvSpPr>
        <p:spPr>
          <a:xfrm>
            <a:off x="4356100" y="1422400"/>
            <a:ext cx="3467100" cy="635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C76D6A-9530-80F9-164B-4EC712859D19}"/>
              </a:ext>
            </a:extLst>
          </p:cNvPr>
          <p:cNvSpPr txBox="1"/>
          <p:nvPr/>
        </p:nvSpPr>
        <p:spPr>
          <a:xfrm>
            <a:off x="45339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00" b="1">
                <a:solidFill>
                  <a:srgbClr val="D97706"/>
                </a:solidFill>
                <a:latin typeface="Segoe UI" panose="020B0502040204020203" pitchFamily="34" charset="0"/>
              </a:rPr>
              <a:t>ANTI-DEKOMPILASI &amp; CRACKING</a:t>
            </a:r>
          </a:p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Code Obfuscation &amp; Shrinking (R8)</a:t>
            </a:r>
            <a:endParaRPr lang="en-ID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E859DB-48EC-2BE8-310D-0560CAB077DE}"/>
              </a:ext>
            </a:extLst>
          </p:cNvPr>
          <p:cNvSpPr txBox="1"/>
          <p:nvPr/>
        </p:nvSpPr>
        <p:spPr>
          <a:xfrm>
            <a:off x="4533900" y="2235200"/>
            <a:ext cx="3111500" cy="170816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isMinifyEnabled &amp; isShrinkResources:
  Diaktifkan penuh pada konfigurasi Gradle build release aplikasi.
- Pengacakan Logika Kode (R8/Proguard):
  Nama kelas, method, dan variabel diacak sehingga source code tidak dapat dibaca kembali melalui tools decompile seperti Jadx atau APKTool.
- Proteksi Algoritma Absensi:
  Logika validasi jarak radius GPS dan parsing token aman dari manipulasi pihak luar.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A9E977-CAD1-78AB-3FB1-6CA1CB2D2F5B}"/>
              </a:ext>
            </a:extLst>
          </p:cNvPr>
          <p:cNvSpPr/>
          <p:nvPr/>
        </p:nvSpPr>
        <p:spPr>
          <a:xfrm>
            <a:off x="45339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D97706"/>
                </a:solidFill>
                <a:latin typeface="Segoe UI" panose="020B0502040204020203" pitchFamily="34" charset="0"/>
              </a:rPr>
              <a:t>STATUS: R8 OBFUSCATION 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FF2B728-B534-387D-633A-B603BD3CDE04}"/>
              </a:ext>
            </a:extLst>
          </p:cNvPr>
          <p:cNvSpPr/>
          <p:nvPr/>
        </p:nvSpPr>
        <p:spPr>
          <a:xfrm>
            <a:off x="80772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B21E5F-16F1-6B3A-26CA-EE7FB328B85F}"/>
              </a:ext>
            </a:extLst>
          </p:cNvPr>
          <p:cNvSpPr/>
          <p:nvPr/>
        </p:nvSpPr>
        <p:spPr>
          <a:xfrm>
            <a:off x="8077200" y="1422400"/>
            <a:ext cx="3467100" cy="635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2339CF-FA47-7531-752D-9A1536F49276}"/>
              </a:ext>
            </a:extLst>
          </p:cNvPr>
          <p:cNvSpPr txBox="1"/>
          <p:nvPr/>
        </p:nvSpPr>
        <p:spPr>
          <a:xfrm>
            <a:off x="82550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00" b="1">
                <a:solidFill>
                  <a:srgbClr val="059669"/>
                </a:solidFill>
                <a:latin typeface="Segoe UI" panose="020B0502040204020203" pitchFamily="34" charset="0"/>
              </a:rPr>
              <a:t>MANAJEMEN KREDENSIAL</a:t>
            </a:r>
          </a:p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Session Security &amp; Device Binding</a:t>
            </a:r>
            <a:endParaRPr lang="en-ID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26922F-8CBE-F7E2-2787-4F3800B04010}"/>
              </a:ext>
            </a:extLst>
          </p:cNvPr>
          <p:cNvSpPr txBox="1"/>
          <p:nvPr/>
        </p:nvSpPr>
        <p:spPr>
          <a:xfrm>
            <a:off x="8255000" y="2235200"/>
            <a:ext cx="3111500" cy="170816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Encrypted Secure Storage:
  Penyimpanan token otentikasi bearer menggunakan Android Keystore hardware-backed terenkripsi.
- Validasi Device ID Unik:
  Memastikan akun karyawan terikat secara valid dengan perangkat resmi, mencegah penggandaan akun antar ponsel.
- Sesi Otomatis Expire:
  Mewajibkan re-autentikasi berkala saat sesi login terdeteksi tidak aktif atau terjadi reset kredensial.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DD677A-4037-21E4-4569-33D6DD54AF97}"/>
              </a:ext>
            </a:extLst>
          </p:cNvPr>
          <p:cNvSpPr/>
          <p:nvPr/>
        </p:nvSpPr>
        <p:spPr>
          <a:xfrm>
            <a:off x="82550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059669"/>
                </a:solidFill>
                <a:latin typeface="Segoe UI" panose="020B0502040204020203" pitchFamily="34" charset="0"/>
              </a:rPr>
              <a:t>STATUS: KEYSTORE ENCRYPTED</a:t>
            </a:r>
          </a:p>
        </p:txBody>
      </p:sp>
    </p:spTree>
    <p:extLst>
      <p:ext uri="{BB962C8B-B14F-4D97-AF65-F5344CB8AC3E}">
        <p14:creationId xmlns:p14="http://schemas.microsoft.com/office/powerpoint/2010/main" val="201449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0A0F33-5581-6D73-C233-A8F02537BD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D9A170-2371-9531-E333-B1ED50CAD9BA}"/>
              </a:ext>
            </a:extLst>
          </p:cNvPr>
          <p:cNvSpPr/>
          <p:nvPr/>
        </p:nvSpPr>
        <p:spPr>
          <a:xfrm>
            <a:off x="635000" y="279400"/>
            <a:ext cx="2794000" cy="254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2700" rIns="101600" bIns="12700"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DIGITAL SIGNATURE &amp; KEYSTORE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62C74-262F-8143-AFFC-AD55D9A4F5EB}"/>
              </a:ext>
            </a:extLst>
          </p:cNvPr>
          <p:cNvSpPr txBox="1"/>
          <p:nvPr/>
        </p:nvSpPr>
        <p:spPr>
          <a:xfrm>
            <a:off x="635000" y="571500"/>
            <a:ext cx="9525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2000" b="1">
                <a:solidFill>
                  <a:srgbClr val="0F172A"/>
                </a:solidFill>
                <a:latin typeface="Segoe UI" panose="020B0502040204020203" pitchFamily="34" charset="0"/>
              </a:rPr>
              <a:t>Solusi Masalah Bentrok Paket &amp; Penetapan Keystore Resmi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DF10A-3E81-98A9-52BE-E62ADD1C732E}"/>
              </a:ext>
            </a:extLst>
          </p:cNvPr>
          <p:cNvSpPr txBox="1"/>
          <p:nvPr/>
        </p:nvSpPr>
        <p:spPr>
          <a:xfrm>
            <a:off x="635000" y="952500"/>
            <a:ext cx="9525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1050">
                <a:solidFill>
                  <a:srgbClr val="64748B"/>
                </a:solidFill>
                <a:latin typeface="Segoe UI" panose="020B0502040204020203" pitchFamily="34" charset="0"/>
              </a:rPr>
              <a:t>Resolusi tuntas error INSTALL_FAILED_UPDATE_INCOMPATIBLE serta standarisasi tanda tangan digital jangka panjang.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4DC857-6C61-7712-B0D0-B82BB665207C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D5C373F-7C8B-5972-7456-41AFC46584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0" y="279400"/>
            <a:ext cx="1079500" cy="5715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4F13A9-D7F9-4979-8D55-288E44228F29}"/>
              </a:ext>
            </a:extLst>
          </p:cNvPr>
          <p:cNvCxnSpPr/>
          <p:nvPr/>
        </p:nvCxnSpPr>
        <p:spPr>
          <a:xfrm>
            <a:off x="635000" y="63246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123A6D0-2574-E03A-AA30-E6978CB9EF74}"/>
              </a:ext>
            </a:extLst>
          </p:cNvPr>
          <p:cNvSpPr txBox="1"/>
          <p:nvPr/>
        </p:nvSpPr>
        <p:spPr>
          <a:xfrm>
            <a:off x="635000" y="6426200"/>
            <a:ext cx="698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900">
                <a:solidFill>
                  <a:srgbClr val="64748B"/>
                </a:solidFill>
                <a:latin typeface="Segoe UI" panose="020B0502040204020203" pitchFamily="34" charset="0"/>
              </a:rPr>
              <a:t>ESA Groups Mobile  |  Resume Penerapan Cyber Security &amp; Kesiapan Publikasi Play 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0F639A-74A5-3C2A-43C7-F3795AAA70BE}"/>
              </a:ext>
            </a:extLst>
          </p:cNvPr>
          <p:cNvSpPr txBox="1"/>
          <p:nvPr/>
        </p:nvSpPr>
        <p:spPr>
          <a:xfrm>
            <a:off x="9525000" y="6426200"/>
            <a:ext cx="2032000" cy="184666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Slide 5 of 10  |  v1.0.153</a:t>
            </a:r>
            <a:endParaRPr lang="en-ID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2FBEE4-7C2A-6140-53D5-2EA9F2AAFECD}"/>
              </a:ext>
            </a:extLst>
          </p:cNvPr>
          <p:cNvSpPr/>
          <p:nvPr/>
        </p:nvSpPr>
        <p:spPr>
          <a:xfrm>
            <a:off x="635000" y="1422400"/>
            <a:ext cx="53086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FFA05A-AD46-48CB-455F-B03FD1FEFF1C}"/>
              </a:ext>
            </a:extLst>
          </p:cNvPr>
          <p:cNvSpPr/>
          <p:nvPr/>
        </p:nvSpPr>
        <p:spPr>
          <a:xfrm>
            <a:off x="635000" y="1422400"/>
            <a:ext cx="5308600" cy="63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92092-E15B-DAF8-CAA7-AC42825F5ED8}"/>
              </a:ext>
            </a:extLst>
          </p:cNvPr>
          <p:cNvSpPr txBox="1"/>
          <p:nvPr/>
        </p:nvSpPr>
        <p:spPr>
          <a:xfrm>
            <a:off x="863600" y="1574800"/>
            <a:ext cx="4851400" cy="37702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850" b="1">
                <a:solidFill>
                  <a:srgbClr val="DC2626"/>
                </a:solidFill>
                <a:latin typeface="Segoe UI" panose="020B0502040204020203" pitchFamily="34" charset="0"/>
              </a:rPr>
              <a:t>AKAR MASALAH (ROOT CAUSE ANALYSIS)</a:t>
            </a:r>
          </a:p>
          <a:p>
            <a:r>
              <a:rPr lang="en-ID" sz="1300" b="1">
                <a:solidFill>
                  <a:srgbClr val="0F172A"/>
                </a:solidFill>
                <a:latin typeface="Segoe UI" panose="020B0502040204020203" pitchFamily="34" charset="0"/>
              </a:rPr>
              <a:t>Mengapa Terjadi Error Bentrok Paket?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0A2967-795E-2987-2F63-BFD6F27AA6E1}"/>
              </a:ext>
            </a:extLst>
          </p:cNvPr>
          <p:cNvSpPr txBox="1"/>
          <p:nvPr/>
        </p:nvSpPr>
        <p:spPr>
          <a:xfrm>
            <a:off x="863600" y="2209800"/>
            <a:ext cx="4851400" cy="18666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10">
                <a:solidFill>
                  <a:srgbClr val="334155"/>
                </a:solidFill>
                <a:latin typeface="Segoe UI" panose="020B0502040204020203" pitchFamily="34" charset="0"/>
              </a:rPr>
              <a:t>- Gejala Kegagalan Instalasi:
  Saat user mencoba update aplikasi di atas versi lama, Android menampilkan pesan error: 'Aplikasi bentrok dengan paket sebelumnya' (INSTALL_FAILED_UPDATE_INCOMPATIBLE).
- Penyebab Teknis (Signature Mismatch):
  1. APK sebelumnya di-build menggunakan Debug Keystore bawaan laptop developer.
  2. APK pembaruan ditandatangani menggunakan sertifikat yang berbeda.
  3. Sistem Keamanan Android mewajibkan setiap aplikasi dengan Package Name sama (com.attendance.att_mobile) memiliki sertifikat digital identik.
- Dampak Jika Dibiarkan:
  Pengguna harus uninstall aplikasi lama secara manual sehingga data offline lokal terhapus, serta aplikasi berisiko ditolak update di Google Play Store.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BB4FAC-5AC8-C387-4619-E75942B15CC7}"/>
              </a:ext>
            </a:extLst>
          </p:cNvPr>
          <p:cNvSpPr/>
          <p:nvPr/>
        </p:nvSpPr>
        <p:spPr>
          <a:xfrm>
            <a:off x="863600" y="5384800"/>
            <a:ext cx="4851400" cy="5334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DC2626"/>
                </a:solidFill>
                <a:latin typeface="Segoe UI" panose="020B0502040204020203" pitchFamily="34" charset="0"/>
              </a:rPr>
              <a:t>Peringatan: Debug Key dilarang keras digunakan untuk rilis publik karena signature tidak permanen dan rentan penolakan rilis.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89C5A94-7382-D790-E405-98ABB341B9BD}"/>
              </a:ext>
            </a:extLst>
          </p:cNvPr>
          <p:cNvSpPr/>
          <p:nvPr/>
        </p:nvSpPr>
        <p:spPr>
          <a:xfrm>
            <a:off x="6248400" y="1422400"/>
            <a:ext cx="53086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BD46BB-F305-F1FD-2BB6-EA6B3F0421D3}"/>
              </a:ext>
            </a:extLst>
          </p:cNvPr>
          <p:cNvSpPr/>
          <p:nvPr/>
        </p:nvSpPr>
        <p:spPr>
          <a:xfrm>
            <a:off x="6248400" y="1422400"/>
            <a:ext cx="5308600" cy="635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D4B042-D184-BFF6-5FA0-B8F495134F43}"/>
              </a:ext>
            </a:extLst>
          </p:cNvPr>
          <p:cNvSpPr txBox="1"/>
          <p:nvPr/>
        </p:nvSpPr>
        <p:spPr>
          <a:xfrm>
            <a:off x="6477000" y="1574800"/>
            <a:ext cx="4851400" cy="37702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850" b="1">
                <a:solidFill>
                  <a:srgbClr val="059669"/>
                </a:solidFill>
                <a:latin typeface="Segoe UI" panose="020B0502040204020203" pitchFamily="34" charset="0"/>
              </a:rPr>
              <a:t>SOLUSI RESMI &amp; STANDARISASI KEYSTORE</a:t>
            </a:r>
          </a:p>
          <a:p>
            <a:r>
              <a:rPr lang="en-ID" sz="1300" b="1">
                <a:solidFill>
                  <a:srgbClr val="0F172A"/>
                </a:solidFill>
                <a:latin typeface="Segoe UI" panose="020B0502040204020203" pitchFamily="34" charset="0"/>
              </a:rPr>
              <a:t>Implementasi upload-keystore.jks Permanen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D9B71F-292F-5C75-5FA7-5D4C207D244F}"/>
              </a:ext>
            </a:extLst>
          </p:cNvPr>
          <p:cNvSpPr txBox="1"/>
          <p:nvPr/>
        </p:nvSpPr>
        <p:spPr>
          <a:xfrm>
            <a:off x="6477000" y="2209800"/>
            <a:ext cx="4851400" cy="214674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10">
                <a:solidFill>
                  <a:srgbClr val="334155"/>
                </a:solidFill>
                <a:latin typeface="Segoe UI" panose="020B0502040204020203" pitchFamily="34" charset="0"/>
              </a:rPr>
              <a:t>- Pembuatan Keystore Produksi Resmi:
  Membuat berkas upload-keystore.jks standar industri PKCS12 dengan algoritma RSA 2048-bit dan validitas 10.000 hari (aktif s/d tahun 2054).
- Konfigurasi Terintegrasi Otomatis:
  Kredensial tersimpan aman dalam key.properties dan terhubung ke signingConfigs.release pada android/app/build.gradle.kts.
- Identitas Sertifikat Resmi ESA:
  Alias: upload  |  Organisasi: PT Arina Multi Karya (Induk ESA Groups)
  Fingerprint SHA-1 &amp; SHA-256 tersimpan untuk Google Play App Signing.
- Hasil &amp; Keuntungan Jangka Panjang:
  Seluruh update mendatang terjamin 100% kompatibel dan dapat di-update secara mulus tanpa bentrok tanda tangan di semua perangkat.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CFCACCB-4919-BA8B-9F18-7D791F7F528B}"/>
              </a:ext>
            </a:extLst>
          </p:cNvPr>
          <p:cNvSpPr/>
          <p:nvPr/>
        </p:nvSpPr>
        <p:spPr>
          <a:xfrm>
            <a:off x="6477000" y="5384800"/>
            <a:ext cx="4851400" cy="5334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059669"/>
                </a:solidFill>
                <a:latin typeface="Segoe UI" panose="020B0502040204020203" pitchFamily="34" charset="0"/>
              </a:rPr>
              <a:t>Jaminan: Masa berlaku s/d 2054 (10.000 hari). Bebas bentrok paket untuk rilis publik Google Play Store.</a:t>
            </a:r>
          </a:p>
        </p:txBody>
      </p:sp>
    </p:spTree>
    <p:extLst>
      <p:ext uri="{BB962C8B-B14F-4D97-AF65-F5344CB8AC3E}">
        <p14:creationId xmlns:p14="http://schemas.microsoft.com/office/powerpoint/2010/main" val="167298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EF5A0F-23E7-A435-BE72-32472FF3C1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CA7196-AAB4-2FB0-655E-B65083829294}"/>
              </a:ext>
            </a:extLst>
          </p:cNvPr>
          <p:cNvSpPr/>
          <p:nvPr/>
        </p:nvSpPr>
        <p:spPr>
          <a:xfrm>
            <a:off x="635000" y="279400"/>
            <a:ext cx="2794000" cy="254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2700" rIns="101600" bIns="12700"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GOOGLE PLAY STORE COMPLIANCE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52F80-7304-2598-269F-0CF415515BDB}"/>
              </a:ext>
            </a:extLst>
          </p:cNvPr>
          <p:cNvSpPr txBox="1"/>
          <p:nvPr/>
        </p:nvSpPr>
        <p:spPr>
          <a:xfrm>
            <a:off x="635000" y="571500"/>
            <a:ext cx="9525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2000" b="1">
                <a:solidFill>
                  <a:srgbClr val="0F172A"/>
                </a:solidFill>
                <a:latin typeface="Segoe UI" panose="020B0502040204020203" pitchFamily="34" charset="0"/>
              </a:rPr>
              <a:t>Tiga Penyesuaian Kunci Terhadap Regulasi Google Play Store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158E6-73A1-8B0D-2FA1-220CB334AB2B}"/>
              </a:ext>
            </a:extLst>
          </p:cNvPr>
          <p:cNvSpPr txBox="1"/>
          <p:nvPr/>
        </p:nvSpPr>
        <p:spPr>
          <a:xfrm>
            <a:off x="635000" y="952500"/>
            <a:ext cx="9525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1050">
                <a:solidFill>
                  <a:srgbClr val="64748B"/>
                </a:solidFill>
                <a:latin typeface="Segoe UI" panose="020B0502040204020203" pitchFamily="34" charset="0"/>
              </a:rPr>
              <a:t>Langkah mitigasi pelanggaran kebijakan pengembang untuk menjamin kelulusan review Google Play Console.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ACB9F4-FED7-85F8-7B4B-A3DDADC5E618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C0BF720-89B9-967A-959F-F8B6ED1A34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0" y="279400"/>
            <a:ext cx="1079500" cy="5715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87FCEB-3715-DE19-0C44-09E83D4DBA26}"/>
              </a:ext>
            </a:extLst>
          </p:cNvPr>
          <p:cNvCxnSpPr/>
          <p:nvPr/>
        </p:nvCxnSpPr>
        <p:spPr>
          <a:xfrm>
            <a:off x="635000" y="63246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46A064F-36D1-3970-7963-460D1417709C}"/>
              </a:ext>
            </a:extLst>
          </p:cNvPr>
          <p:cNvSpPr txBox="1"/>
          <p:nvPr/>
        </p:nvSpPr>
        <p:spPr>
          <a:xfrm>
            <a:off x="635000" y="6426200"/>
            <a:ext cx="698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900">
                <a:solidFill>
                  <a:srgbClr val="64748B"/>
                </a:solidFill>
                <a:latin typeface="Segoe UI" panose="020B0502040204020203" pitchFamily="34" charset="0"/>
              </a:rPr>
              <a:t>ESA Groups Mobile  |  Resume Penerapan Cyber Security &amp; Kesiapan Publikasi Play 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760FA-A24F-6C54-2B00-861D5D811EE7}"/>
              </a:ext>
            </a:extLst>
          </p:cNvPr>
          <p:cNvSpPr txBox="1"/>
          <p:nvPr/>
        </p:nvSpPr>
        <p:spPr>
          <a:xfrm>
            <a:off x="9525000" y="6426200"/>
            <a:ext cx="2032000" cy="184666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Slide 6 of 10  |  v1.0.153</a:t>
            </a:r>
            <a:endParaRPr lang="en-ID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4EE2B2-31EE-8AD1-67B4-5995BBBA51BE}"/>
              </a:ext>
            </a:extLst>
          </p:cNvPr>
          <p:cNvSpPr/>
          <p:nvPr/>
        </p:nvSpPr>
        <p:spPr>
          <a:xfrm>
            <a:off x="6350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9B803E-5AE6-6B3A-89C5-4210188B8372}"/>
              </a:ext>
            </a:extLst>
          </p:cNvPr>
          <p:cNvSpPr/>
          <p:nvPr/>
        </p:nvSpPr>
        <p:spPr>
          <a:xfrm>
            <a:off x="635000" y="1422400"/>
            <a:ext cx="3467100" cy="635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9FF364-3295-BD1A-33B8-EC67F32D093E}"/>
              </a:ext>
            </a:extLst>
          </p:cNvPr>
          <p:cNvSpPr txBox="1"/>
          <p:nvPr/>
        </p:nvSpPr>
        <p:spPr>
          <a:xfrm>
            <a:off x="8128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800" b="1">
                <a:solidFill>
                  <a:srgbClr val="0284C7"/>
                </a:solidFill>
                <a:latin typeface="Segoe UI" panose="020B0502040204020203" pitchFamily="34" charset="0"/>
              </a:rPr>
              <a:t>POIN 1: ATURAN UPDATE</a:t>
            </a:r>
          </a:p>
          <a:p>
            <a:r>
              <a:rPr lang="en-ID" sz="1200" b="1">
                <a:solidFill>
                  <a:srgbClr val="0F172A"/>
                </a:solidFill>
                <a:latin typeface="Segoe UI" panose="020B0502040204020203" pitchFamily="34" charset="0"/>
              </a:rPr>
              <a:t>Penonaktifan Self-Updating Mandiri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A79DD8-060C-DE7E-AB95-C7EA688FB9AB}"/>
              </a:ext>
            </a:extLst>
          </p:cNvPr>
          <p:cNvSpPr txBox="1"/>
          <p:nvPr/>
        </p:nvSpPr>
        <p:spPr>
          <a:xfrm>
            <a:off x="812800" y="2235200"/>
            <a:ext cx="3111500" cy="184665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Aturan Google Play:
  Device and Network Abuse Policy melarang keras aplikasi mengunduh dan menginstal file APK dari luar Play Store.
- Tindakan Hardening:
  Menghapus izin REQUEST_INSTALL_PACKAGES dari AndroidManifest.xml.
- Solusi Terintegrasi:
  Modul UpdateManager diubah: Saat versi baru rilis, aplikasi menampilkan dialog konfirmasi lalu me-redirect pengguna ke halaman Google Play Store resmi via market://details.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B3C090-D17D-9829-54C7-2798F03C15B6}"/>
              </a:ext>
            </a:extLst>
          </p:cNvPr>
          <p:cNvSpPr/>
          <p:nvPr/>
        </p:nvSpPr>
        <p:spPr>
          <a:xfrm>
            <a:off x="8128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STATUS: PLAY STORE REDIRECT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EFDA0B-2907-56FF-DC04-0B2340901108}"/>
              </a:ext>
            </a:extLst>
          </p:cNvPr>
          <p:cNvSpPr/>
          <p:nvPr/>
        </p:nvSpPr>
        <p:spPr>
          <a:xfrm>
            <a:off x="43561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90E99B-37A2-A1C3-B247-FC1E86A82CF3}"/>
              </a:ext>
            </a:extLst>
          </p:cNvPr>
          <p:cNvSpPr/>
          <p:nvPr/>
        </p:nvSpPr>
        <p:spPr>
          <a:xfrm>
            <a:off x="4356100" y="1422400"/>
            <a:ext cx="3467100" cy="63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D19A-05A8-6081-FDBC-7F4B21E6EDCD}"/>
              </a:ext>
            </a:extLst>
          </p:cNvPr>
          <p:cNvSpPr txBox="1"/>
          <p:nvPr/>
        </p:nvSpPr>
        <p:spPr>
          <a:xfrm>
            <a:off x="45339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800" b="1">
                <a:solidFill>
                  <a:srgbClr val="7C3AED"/>
                </a:solidFill>
                <a:latin typeface="Segoe UI" panose="020B0502040204020203" pitchFamily="34" charset="0"/>
              </a:rPr>
              <a:t>POIN 2: ATURAN LOKASI</a:t>
            </a:r>
          </a:p>
          <a:p>
            <a:r>
              <a:rPr lang="en-ID" sz="1200" b="1">
                <a:solidFill>
                  <a:srgbClr val="0F172A"/>
                </a:solidFill>
                <a:latin typeface="Segoe UI" panose="020B0502040204020203" pitchFamily="34" charset="0"/>
              </a:rPr>
              <a:t>Prominent In-App Disclosure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4BE2FE-7F4B-131E-99F6-A7DCCD5C87CA}"/>
              </a:ext>
            </a:extLst>
          </p:cNvPr>
          <p:cNvSpPr txBox="1"/>
          <p:nvPr/>
        </p:nvSpPr>
        <p:spPr>
          <a:xfrm>
            <a:off x="4533900" y="2235200"/>
            <a:ext cx="3111500" cy="184665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Aturan Google Play:
  Akses background location ditolak jika tanpa justifikasi mutlak. Edukasi transparan wajib muncul sebelum dialog izin sistem Android.
- Tindakan Hardening:
  Menghapus izin ACCESS_BACKGROUND_LOCATION dari AndroidManifest.xml.
- Solusi Terintegrasi:
  Membuat LocationDisclosureHelper yang menjelaskan fungsi GPS untuk radius absensi dan pelacakan rute kerja sebelum permission sistem diminta.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60141C-A4E0-5250-2AD8-58B1EAC0E79F}"/>
              </a:ext>
            </a:extLst>
          </p:cNvPr>
          <p:cNvSpPr/>
          <p:nvPr/>
        </p:nvSpPr>
        <p:spPr>
          <a:xfrm>
            <a:off x="45339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7C3AED"/>
                </a:solidFill>
                <a:latin typeface="Segoe UI" panose="020B0502040204020203" pitchFamily="34" charset="0"/>
              </a:rPr>
              <a:t>STATUS: IN-APP DISCLOSURE 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1180513-3F96-AF37-65C1-F2C2BC6CD88C}"/>
              </a:ext>
            </a:extLst>
          </p:cNvPr>
          <p:cNvSpPr/>
          <p:nvPr/>
        </p:nvSpPr>
        <p:spPr>
          <a:xfrm>
            <a:off x="80772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60AB39-D506-D6D0-6D09-771841C7D235}"/>
              </a:ext>
            </a:extLst>
          </p:cNvPr>
          <p:cNvSpPr/>
          <p:nvPr/>
        </p:nvSpPr>
        <p:spPr>
          <a:xfrm>
            <a:off x="8077200" y="1422400"/>
            <a:ext cx="3467100" cy="635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951D3F-5A86-CB73-447F-1678F04416D2}"/>
              </a:ext>
            </a:extLst>
          </p:cNvPr>
          <p:cNvSpPr txBox="1"/>
          <p:nvPr/>
        </p:nvSpPr>
        <p:spPr>
          <a:xfrm>
            <a:off x="82550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800" b="1">
                <a:solidFill>
                  <a:srgbClr val="059669"/>
                </a:solidFill>
                <a:latin typeface="Segoe UI" panose="020B0502040204020203" pitchFamily="34" charset="0"/>
              </a:rPr>
              <a:t>POIN 3: KEBIJAKAN PRIVASI</a:t>
            </a:r>
          </a:p>
          <a:p>
            <a:r>
              <a:rPr lang="en-ID" sz="1200" b="1">
                <a:solidFill>
                  <a:srgbClr val="0F172A"/>
                </a:solidFill>
                <a:latin typeface="Segoe UI" panose="020B0502040204020203" pitchFamily="34" charset="0"/>
              </a:rPr>
              <a:t>Tautan Privacy Policy Publik Aktif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4FEA0-C642-1D3F-E278-BE776D6B2777}"/>
              </a:ext>
            </a:extLst>
          </p:cNvPr>
          <p:cNvSpPr txBox="1"/>
          <p:nvPr/>
        </p:nvSpPr>
        <p:spPr>
          <a:xfrm>
            <a:off x="8255000" y="2235200"/>
            <a:ext cx="3111500" cy="184665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Aturan Google Play:
  Aplikasi pengumpul data sensitif (GPS, Kamera selfie, Device ID) wajib memiliki dokumen kebijakan privasi yang dapat diakses publik.
- Implementasi Resmi:
  Dibuatkan landing page resmi di domain utama:
  https://esa-solutions.id/privacy-policy
  (Terverifikasi HTTP 200 OK).
- Konten Dokumen:
  Memuat tujuan pemrosesan GPS, hak data pengguna, retensi data, dan kontak resmi DPO ESA.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F7E5890-ADDE-A5C2-30CA-3016DEA41EB1}"/>
              </a:ext>
            </a:extLst>
          </p:cNvPr>
          <p:cNvSpPr/>
          <p:nvPr/>
        </p:nvSpPr>
        <p:spPr>
          <a:xfrm>
            <a:off x="82550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>
                <a:solidFill>
                  <a:srgbClr val="059669"/>
                </a:solidFill>
                <a:latin typeface="Segoe UI" panose="020B0502040204020203" pitchFamily="34" charset="0"/>
              </a:rPr>
              <a:t>STATUS: LIVE (HTTP 200 OK)</a:t>
            </a:r>
            <a:endParaRPr lang="en-ID" sz="850" b="1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40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146F84-52AC-706D-6D5B-135DE5CF0C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C77B77-511E-27CF-00DC-E2F1965FC5A9}"/>
              </a:ext>
            </a:extLst>
          </p:cNvPr>
          <p:cNvSpPr/>
          <p:nvPr/>
        </p:nvSpPr>
        <p:spPr>
          <a:xfrm>
            <a:off x="635000" y="279400"/>
            <a:ext cx="2794000" cy="254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2700" rIns="101600" bIns="12700"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FITUR OPERASIONAL &amp; REGULASI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F6ED0-C0CD-678F-8A50-2A6A41796FE4}"/>
              </a:ext>
            </a:extLst>
          </p:cNvPr>
          <p:cNvSpPr txBox="1"/>
          <p:nvPr/>
        </p:nvSpPr>
        <p:spPr>
          <a:xfrm>
            <a:off x="635000" y="571500"/>
            <a:ext cx="9525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Segoe UI" panose="020B0502040204020203" pitchFamily="34" charset="0"/>
              </a:rPr>
              <a:t>Jaminan Operasional: Geofencing &amp; Live Tracking Tetap 100% Aktif</a:t>
            </a:r>
            <a:endParaRPr lang="en-ID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6D55C-D600-B04C-634F-63E7753FF753}"/>
              </a:ext>
            </a:extLst>
          </p:cNvPr>
          <p:cNvSpPr txBox="1"/>
          <p:nvPr/>
        </p:nvSpPr>
        <p:spPr>
          <a:xfrm>
            <a:off x="635000" y="952500"/>
            <a:ext cx="9525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1050">
                <a:solidFill>
                  <a:srgbClr val="64748B"/>
                </a:solidFill>
                <a:latin typeface="Segoe UI" panose="020B0502040204020203" pitchFamily="34" charset="0"/>
              </a:rPr>
              <a:t>Klarifikasi teknis: Penyesuaian izin Google Play tidak menghentikan fungsi radius absensi maupun rute surveyor/sales.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A97AA1-4E78-D615-AB6E-F5628991A359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363C1D1-9220-42AF-0AC8-1870115156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0" y="279400"/>
            <a:ext cx="1079500" cy="5715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3E16B9-58F2-28FF-AC1E-BD7BFB3F3157}"/>
              </a:ext>
            </a:extLst>
          </p:cNvPr>
          <p:cNvCxnSpPr/>
          <p:nvPr/>
        </p:nvCxnSpPr>
        <p:spPr>
          <a:xfrm>
            <a:off x="635000" y="63246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E5CEF9-74E9-06E8-0ABF-6012CAD68414}"/>
              </a:ext>
            </a:extLst>
          </p:cNvPr>
          <p:cNvSpPr txBox="1"/>
          <p:nvPr/>
        </p:nvSpPr>
        <p:spPr>
          <a:xfrm>
            <a:off x="635000" y="6426200"/>
            <a:ext cx="698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900">
                <a:solidFill>
                  <a:srgbClr val="64748B"/>
                </a:solidFill>
                <a:latin typeface="Segoe UI" panose="020B0502040204020203" pitchFamily="34" charset="0"/>
              </a:rPr>
              <a:t>ESA Groups Mobile  |  Resume Penerapan Cyber Security &amp; Kesiapan Publikasi Play 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FF1AD2-379E-2067-F70F-CB2CAB9DA420}"/>
              </a:ext>
            </a:extLst>
          </p:cNvPr>
          <p:cNvSpPr txBox="1"/>
          <p:nvPr/>
        </p:nvSpPr>
        <p:spPr>
          <a:xfrm>
            <a:off x="9525000" y="6426200"/>
            <a:ext cx="2032000" cy="184666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Slide 7 of 10  |  v1.0.153</a:t>
            </a:r>
            <a:endParaRPr lang="en-ID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AC33E7-1C37-C185-E5E3-9C6554198E48}"/>
              </a:ext>
            </a:extLst>
          </p:cNvPr>
          <p:cNvSpPr/>
          <p:nvPr/>
        </p:nvSpPr>
        <p:spPr>
          <a:xfrm>
            <a:off x="635000" y="1422400"/>
            <a:ext cx="53086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9BDFD3-F896-83D9-785F-D5E7ADED7C22}"/>
              </a:ext>
            </a:extLst>
          </p:cNvPr>
          <p:cNvSpPr/>
          <p:nvPr/>
        </p:nvSpPr>
        <p:spPr>
          <a:xfrm>
            <a:off x="635000" y="1422400"/>
            <a:ext cx="5308600" cy="635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A2EFB3-F65C-CCC9-3BA5-E1662EFB3E3D}"/>
              </a:ext>
            </a:extLst>
          </p:cNvPr>
          <p:cNvSpPr txBox="1"/>
          <p:nvPr/>
        </p:nvSpPr>
        <p:spPr>
          <a:xfrm>
            <a:off x="863600" y="1574800"/>
            <a:ext cx="4851400" cy="37702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FITUR 1: GEOFENCING RADIUS ABSENSI</a:t>
            </a:r>
          </a:p>
          <a:p>
            <a:r>
              <a:rPr lang="en-ID" sz="1300" b="1">
                <a:solidFill>
                  <a:srgbClr val="0F172A"/>
                </a:solidFill>
                <a:latin typeface="Segoe UI" panose="020B0502040204020203" pitchFamily="34" charset="0"/>
              </a:rPr>
              <a:t>Status: 100% Berfungsi Normal &amp; Aman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F9E2FE-D64F-515B-A746-E895110CB2A5}"/>
              </a:ext>
            </a:extLst>
          </p:cNvPr>
          <p:cNvSpPr txBox="1"/>
          <p:nvPr/>
        </p:nvSpPr>
        <p:spPr>
          <a:xfrm>
            <a:off x="863600" y="2209800"/>
            <a:ext cx="4851400" cy="214674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10">
                <a:solidFill>
                  <a:srgbClr val="334155"/>
                </a:solidFill>
                <a:latin typeface="Segoe UI" panose="020B0502040204020203" pitchFamily="34" charset="0"/>
              </a:rPr>
              <a:t>- Basis Izin: ACCESS_FINE_LOCATION (GPS Presisi Tinggi)
  Mengambil titik koordinat akurat perangkat saat karyawan melakukan Check-in dan Check-out di kantor atau outlet.
- Mode Eksekusi: Foreground (Saat Aplikasi Aktif)
  Karyawan membuka aplikasi saat clock-in. Sistem menghitung radius meter menggunakan formula Haversine terhadap koordinat lokasi kerja yang terdaftar.
- Kepatuhan Penuh Terhadap Regulasi Google:
  Penggunaan izin Foreground Location saat aplikasi aktif TIDAK terkena pembatasan kebijakan background location Google.
- Kesimpulan Operasional:
  Fitur absensi radius kantor berjalan normal tanpa kendala dan bebas risiko penolakan review Google Play Store.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8E59DF-CAE9-70C3-1D07-3BDC43DB41C5}"/>
              </a:ext>
            </a:extLst>
          </p:cNvPr>
          <p:cNvSpPr/>
          <p:nvPr/>
        </p:nvSpPr>
        <p:spPr>
          <a:xfrm>
            <a:off x="863600" y="5384800"/>
            <a:ext cx="4851400" cy="5334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Status Geofencing: 100% Aktif &amp; Aman. Tidak memerlukan izin background location khusus.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CFA167-CAFF-97AC-66BF-EA7CA200C3F9}"/>
              </a:ext>
            </a:extLst>
          </p:cNvPr>
          <p:cNvSpPr/>
          <p:nvPr/>
        </p:nvSpPr>
        <p:spPr>
          <a:xfrm>
            <a:off x="6248400" y="1422400"/>
            <a:ext cx="53086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2E010E-D1A6-EC56-28F9-AD22DB706E54}"/>
              </a:ext>
            </a:extLst>
          </p:cNvPr>
          <p:cNvSpPr/>
          <p:nvPr/>
        </p:nvSpPr>
        <p:spPr>
          <a:xfrm>
            <a:off x="6248400" y="1422400"/>
            <a:ext cx="5308600" cy="635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981B23-8D16-69D9-0D5E-B95D64A9B88C}"/>
              </a:ext>
            </a:extLst>
          </p:cNvPr>
          <p:cNvSpPr txBox="1"/>
          <p:nvPr/>
        </p:nvSpPr>
        <p:spPr>
          <a:xfrm>
            <a:off x="6477000" y="1574800"/>
            <a:ext cx="4851400" cy="37702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850" b="1">
                <a:solidFill>
                  <a:srgbClr val="059669"/>
                </a:solidFill>
                <a:latin typeface="Segoe UI" panose="020B0502040204020203" pitchFamily="34" charset="0"/>
              </a:rPr>
              <a:t>FITUR 2: LIVE TRACKING SURVEYOR / SALES</a:t>
            </a:r>
          </a:p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Status: 100% Aktif &amp; Legal via Foreground Service</a:t>
            </a:r>
            <a:endParaRPr lang="en-ID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E32007-DAA3-1191-737A-A071405130FA}"/>
              </a:ext>
            </a:extLst>
          </p:cNvPr>
          <p:cNvSpPr txBox="1"/>
          <p:nvPr/>
        </p:nvSpPr>
        <p:spPr>
          <a:xfrm>
            <a:off x="6477000" y="2209800"/>
            <a:ext cx="4851400" cy="228678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10">
                <a:solidFill>
                  <a:srgbClr val="334155"/>
                </a:solidFill>
                <a:latin typeface="Segoe UI" panose="020B0502040204020203" pitchFamily="34" charset="0"/>
              </a:rPr>
              <a:t>- Basis Izin: FOREGROUND_SERVICE_LOCATION
  Memungkinkan aplikasi melacak rute perjalanan tugas meskipun layar ponsel mati atau aplikasi diminimalkan.
- Notifikasi Status Bar Persisten:
  Saat tugas kunjungan dimulai, sistem menampilkan notifikasi aktif: 'Aplikasi sedang melacak perjalanan dinas'. Notifikasi ini menjadi syarat mutlak Google agar pelacakan transparan bagi pengguna.
- Kepatuhan Legalitas Regulasi Google:
  Google mengizinkan penuh pelacakan lokasi via Foreground Service asalkan memiliki notifikasi terlihat dan use case kerja yang jelas.
- Kesimpulan Operasional:
  Riwayat rute dan jarak tempuh salesman/surveyor tetap terekam akurat di server tanpa melanggar kebijakan privasi Google.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EE32572-9869-B346-67F2-30C273B4B9D0}"/>
              </a:ext>
            </a:extLst>
          </p:cNvPr>
          <p:cNvSpPr/>
          <p:nvPr/>
        </p:nvSpPr>
        <p:spPr>
          <a:xfrm>
            <a:off x="6477000" y="5384800"/>
            <a:ext cx="4851400" cy="5334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059669"/>
                </a:solidFill>
                <a:latin typeface="Segoe UI" panose="020B0502040204020203" pitchFamily="34" charset="0"/>
              </a:rPr>
              <a:t>Status Live Tracking: 100% Aktif &amp; Legal via Foreground Service dengan notifikasi aktif di status bar.</a:t>
            </a:r>
          </a:p>
        </p:txBody>
      </p:sp>
    </p:spTree>
    <p:extLst>
      <p:ext uri="{BB962C8B-B14F-4D97-AF65-F5344CB8AC3E}">
        <p14:creationId xmlns:p14="http://schemas.microsoft.com/office/powerpoint/2010/main" val="723423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88BE51-F878-DB18-BDE9-640DD70391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5A577E-132A-9205-CC0D-3D5C134E3F15}"/>
              </a:ext>
            </a:extLst>
          </p:cNvPr>
          <p:cNvSpPr/>
          <p:nvPr/>
        </p:nvSpPr>
        <p:spPr>
          <a:xfrm>
            <a:off x="635000" y="279400"/>
            <a:ext cx="2794000" cy="254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2700" rIns="101600" bIns="12700"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ARTIFACTS &amp; PLAY CONSOLE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4F7C1-7CB5-7388-5E69-7BFD29FE7CA4}"/>
              </a:ext>
            </a:extLst>
          </p:cNvPr>
          <p:cNvSpPr txBox="1"/>
          <p:nvPr/>
        </p:nvSpPr>
        <p:spPr>
          <a:xfrm>
            <a:off x="635000" y="571500"/>
            <a:ext cx="9525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Segoe UI" panose="020B0502040204020203" pitchFamily="34" charset="0"/>
              </a:rPr>
              <a:t>Status Artefak Build &amp; Panduan Pengisian Google Play Console</a:t>
            </a:r>
            <a:endParaRPr lang="en-ID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5E093-F919-6953-5F2B-01F7508D0F95}"/>
              </a:ext>
            </a:extLst>
          </p:cNvPr>
          <p:cNvSpPr txBox="1"/>
          <p:nvPr/>
        </p:nvSpPr>
        <p:spPr>
          <a:xfrm>
            <a:off x="635000" y="952500"/>
            <a:ext cx="9525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1050">
                <a:solidFill>
                  <a:srgbClr val="64748B"/>
                </a:solidFill>
                <a:latin typeface="Segoe UI" panose="020B0502040204020203" pitchFamily="34" charset="0"/>
              </a:rPr>
              <a:t>Rincian paket rilis siap upload dan checklist langkah demi langkah pengisian form keamanan data pengembang.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35BE71-9280-CEDF-01B6-9C75A97DE640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38BF535-E229-26A3-C920-94B664AB04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0" y="279400"/>
            <a:ext cx="1079500" cy="5715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9B999-A14D-398A-FA2D-4999EED763B4}"/>
              </a:ext>
            </a:extLst>
          </p:cNvPr>
          <p:cNvCxnSpPr/>
          <p:nvPr/>
        </p:nvCxnSpPr>
        <p:spPr>
          <a:xfrm>
            <a:off x="635000" y="63246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28FA56-E52E-27DD-7B75-AF74DBC9D312}"/>
              </a:ext>
            </a:extLst>
          </p:cNvPr>
          <p:cNvSpPr txBox="1"/>
          <p:nvPr/>
        </p:nvSpPr>
        <p:spPr>
          <a:xfrm>
            <a:off x="635000" y="6426200"/>
            <a:ext cx="698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900">
                <a:solidFill>
                  <a:srgbClr val="64748B"/>
                </a:solidFill>
                <a:latin typeface="Segoe UI" panose="020B0502040204020203" pitchFamily="34" charset="0"/>
              </a:rPr>
              <a:t>ESA Groups Mobile  |  Resume Penerapan Cyber Security &amp; Kesiapan Publikasi Play 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4C72EF-092A-22CA-6246-6D5EC0FBE186}"/>
              </a:ext>
            </a:extLst>
          </p:cNvPr>
          <p:cNvSpPr txBox="1"/>
          <p:nvPr/>
        </p:nvSpPr>
        <p:spPr>
          <a:xfrm>
            <a:off x="9525000" y="6426200"/>
            <a:ext cx="2032000" cy="184666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Slide 8 of 10  |  v1.0.153</a:t>
            </a:r>
            <a:endParaRPr lang="en-ID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2C48E5-AC83-8749-4D11-7C1CE1CFF9C5}"/>
              </a:ext>
            </a:extLst>
          </p:cNvPr>
          <p:cNvSpPr/>
          <p:nvPr/>
        </p:nvSpPr>
        <p:spPr>
          <a:xfrm>
            <a:off x="635000" y="1422400"/>
            <a:ext cx="48260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EABE06-0B02-1723-F63B-38FBB7E94009}"/>
              </a:ext>
            </a:extLst>
          </p:cNvPr>
          <p:cNvSpPr/>
          <p:nvPr/>
        </p:nvSpPr>
        <p:spPr>
          <a:xfrm>
            <a:off x="635000" y="1422400"/>
            <a:ext cx="4826000" cy="635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1D24A-FCA0-9FB8-665C-0E58AAC6460E}"/>
              </a:ext>
            </a:extLst>
          </p:cNvPr>
          <p:cNvSpPr txBox="1"/>
          <p:nvPr/>
        </p:nvSpPr>
        <p:spPr>
          <a:xfrm>
            <a:off x="863600" y="1574800"/>
            <a:ext cx="4368800" cy="37702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STATUS ARTEFAK RILIS RESMI</a:t>
            </a:r>
          </a:p>
          <a:p>
            <a:r>
              <a:rPr lang="en-ID" sz="1300" b="1">
                <a:solidFill>
                  <a:srgbClr val="0F172A"/>
                </a:solidFill>
                <a:latin typeface="Segoe UI" panose="020B0502040204020203" pitchFamily="34" charset="0"/>
              </a:rPr>
              <a:t>Paket Siap Distribusi (v1.0.153)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1DF6A4-BB7F-A724-6D09-CCC61EDD9FDD}"/>
              </a:ext>
            </a:extLst>
          </p:cNvPr>
          <p:cNvSpPr/>
          <p:nvPr/>
        </p:nvSpPr>
        <p:spPr>
          <a:xfrm>
            <a:off x="863600" y="2235200"/>
            <a:ext cx="4368800" cy="1079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3604E9-9214-D6B5-E11E-876F55E2AB55}"/>
              </a:ext>
            </a:extLst>
          </p:cNvPr>
          <p:cNvSpPr txBox="1"/>
          <p:nvPr/>
        </p:nvSpPr>
        <p:spPr>
          <a:xfrm>
            <a:off x="990600" y="2311400"/>
            <a:ext cx="4114800" cy="46166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1000" b="1">
                <a:solidFill>
                  <a:srgbClr val="0284C7"/>
                </a:solidFill>
                <a:latin typeface="Segoe UI" panose="020B0502040204020203" pitchFamily="34" charset="0"/>
              </a:rPr>
              <a:t>Android App Bundle (.AAB)  [SYARAT PLAY STORE]</a:t>
            </a:r>
          </a:p>
          <a:p>
            <a:r>
              <a:rPr lang="en-ID" sz="850">
                <a:solidFill>
                  <a:srgbClr val="334155"/>
                </a:solidFill>
                <a:latin typeface="Segoe UI" panose="020B0502040204020203" pitchFamily="34" charset="0"/>
              </a:rPr>
              <a:t>File: d:\Project\attendace\app-release.aab</a:t>
            </a:r>
          </a:p>
          <a:p>
            <a:r>
              <a:rPr lang="en-ID" sz="850">
                <a:solidFill>
                  <a:srgbClr val="64748B"/>
                </a:solidFill>
                <a:latin typeface="Segoe UI" panose="020B0502040204020203" pitchFamily="34" charset="0"/>
              </a:rPr>
              <a:t>Ukuran: 94.0 MB  |  Target: Google Play Console (Production)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4745BD-9C0A-1D72-88A3-DB86E6BB1B9C}"/>
              </a:ext>
            </a:extLst>
          </p:cNvPr>
          <p:cNvSpPr/>
          <p:nvPr/>
        </p:nvSpPr>
        <p:spPr>
          <a:xfrm>
            <a:off x="863600" y="3454400"/>
            <a:ext cx="4368800" cy="1079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803147-777F-AD84-8C47-B18B5AD4E1A4}"/>
              </a:ext>
            </a:extLst>
          </p:cNvPr>
          <p:cNvSpPr txBox="1"/>
          <p:nvPr/>
        </p:nvSpPr>
        <p:spPr>
          <a:xfrm>
            <a:off x="990600" y="3530600"/>
            <a:ext cx="4114800" cy="46166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1000" b="1">
                <a:solidFill>
                  <a:srgbClr val="7C3AED"/>
                </a:solidFill>
                <a:latin typeface="Segoe UI" panose="020B0502040204020203" pitchFamily="34" charset="0"/>
              </a:rPr>
              <a:t>Android Application Package (.APK)  [INTERNAL TESTING]</a:t>
            </a:r>
          </a:p>
          <a:p>
            <a:r>
              <a:rPr lang="en-ID" sz="850">
                <a:solidFill>
                  <a:srgbClr val="334155"/>
                </a:solidFill>
                <a:latin typeface="Segoe UI" panose="020B0502040204020203" pitchFamily="34" charset="0"/>
              </a:rPr>
              <a:t>File: d:\Project\attendace\app-release.apk</a:t>
            </a:r>
          </a:p>
          <a:p>
            <a:r>
              <a:rPr lang="en-ID" sz="850">
                <a:solidFill>
                  <a:srgbClr val="64748B"/>
                </a:solidFill>
                <a:latin typeface="Segoe UI" panose="020B0502040204020203" pitchFamily="34" charset="0"/>
              </a:rPr>
              <a:t>Ukuran: 117.2 MB  |  Target: UAT &amp; Direct Device Testing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4E696-E991-5949-25A4-DE9331D9E72D}"/>
              </a:ext>
            </a:extLst>
          </p:cNvPr>
          <p:cNvSpPr txBox="1"/>
          <p:nvPr/>
        </p:nvSpPr>
        <p:spPr>
          <a:xfrm>
            <a:off x="863600" y="4699000"/>
            <a:ext cx="4368800" cy="71558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950" b="1">
                <a:solidFill>
                  <a:srgbClr val="0F172A"/>
                </a:solidFill>
                <a:latin typeface="Segoe UI" panose="020B0502040204020203" pitchFamily="34" charset="0"/>
              </a:rPr>
              <a:t>Spesifikasi Paket Rilis:</a:t>
            </a:r>
          </a:p>
          <a:p>
            <a:r>
              <a:rPr lang="en-ID" sz="850">
                <a:solidFill>
                  <a:srgbClr val="334155"/>
                </a:solidFill>
                <a:latin typeface="Segoe UI" panose="020B0502040204020203" pitchFamily="34" charset="0"/>
              </a:rPr>
              <a:t>- Package Name : com.attendance.att_mobile</a:t>
            </a:r>
          </a:p>
          <a:p>
            <a:r>
              <a:rPr lang="en-ID" sz="850">
                <a:solidFill>
                  <a:srgbClr val="334155"/>
                </a:solidFill>
                <a:latin typeface="Segoe UI" panose="020B0502040204020203" pitchFamily="34" charset="0"/>
              </a:rPr>
              <a:t>- Versi Rilis   : 1.0.153 (VersionCode: 153)</a:t>
            </a:r>
          </a:p>
          <a:p>
            <a:r>
              <a:rPr lang="en-ID" sz="850">
                <a:solidFill>
                  <a:srgbClr val="334155"/>
                </a:solidFill>
                <a:latin typeface="Segoe UI" panose="020B0502040204020203" pitchFamily="34" charset="0"/>
              </a:rPr>
              <a:t>- Target SDK    : 34 / 35 (Android 14 / Android 15)</a:t>
            </a:r>
          </a:p>
          <a:p>
            <a:r>
              <a:rPr lang="en-ID" sz="850">
                <a:solidFill>
                  <a:srgbClr val="334155"/>
                </a:solidFill>
                <a:latin typeface="Segoe UI" panose="020B0502040204020203" pitchFamily="34" charset="0"/>
              </a:rPr>
              <a:t>- Signed By     : upload-keystore.jks (Official Production)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382D30-0B1B-5FBA-EAB4-B4A8E4619AC5}"/>
              </a:ext>
            </a:extLst>
          </p:cNvPr>
          <p:cNvSpPr/>
          <p:nvPr/>
        </p:nvSpPr>
        <p:spPr>
          <a:xfrm>
            <a:off x="5765800" y="1422400"/>
            <a:ext cx="57912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973E7F-419E-0479-8457-1B9C63C01DFB}"/>
              </a:ext>
            </a:extLst>
          </p:cNvPr>
          <p:cNvSpPr/>
          <p:nvPr/>
        </p:nvSpPr>
        <p:spPr>
          <a:xfrm>
            <a:off x="5765800" y="1422400"/>
            <a:ext cx="5791200" cy="63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4BC6FD-1FE2-284A-7A1E-02BBB3EC9864}"/>
              </a:ext>
            </a:extLst>
          </p:cNvPr>
          <p:cNvSpPr txBox="1"/>
          <p:nvPr/>
        </p:nvSpPr>
        <p:spPr>
          <a:xfrm>
            <a:off x="5994400" y="1574800"/>
            <a:ext cx="5334000" cy="37702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850" b="1">
                <a:solidFill>
                  <a:srgbClr val="7C3AED"/>
                </a:solidFill>
                <a:latin typeface="Segoe UI" panose="020B0502040204020203" pitchFamily="34" charset="0"/>
              </a:rPr>
              <a:t>CHECKLIST PENGISIAN GOOGLE PLAY CONSOLE</a:t>
            </a:r>
          </a:p>
          <a:p>
            <a:r>
              <a:rPr lang="en-ID" sz="1300" b="1">
                <a:solidFill>
                  <a:srgbClr val="0F172A"/>
                </a:solidFill>
                <a:latin typeface="Segoe UI" panose="020B0502040204020203" pitchFamily="34" charset="0"/>
              </a:rPr>
              <a:t>Panduan Form Kebijakan &amp; Keamanan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190410-94C6-9B72-CD72-D6D283AB3FB7}"/>
              </a:ext>
            </a:extLst>
          </p:cNvPr>
          <p:cNvSpPr txBox="1"/>
          <p:nvPr/>
        </p:nvSpPr>
        <p:spPr>
          <a:xfrm>
            <a:off x="5994400" y="2209800"/>
            <a:ext cx="5334000" cy="226215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[SIAP] Checklist 1: Privacy Policy URL
Tautan resmi: https://esa-solutions.id/privacy-policy
Status server: HTTP 200 OK (Wajib didaftarkan pada menu App Privacy).
[SIAP] Checklist 2: App Access (Akses Aplikasi)
Pilih "All or some functionality is restricted". Sediakan akun testing demo untuk reviewer Google Play memeriksa fungsionalitas login absensi.
[SIAP] Checklist 3: Data Safety Form (Keamanan Data)
- Location: Approximate &amp; Precise Location (Fungsi: App Functionality).
- Photos/Videos: Akses Kamera untuk verifikasi selfie absensi karyawan.
- Personal Info: Nama &amp; Employee ID (Fungsi: Account Management).
[SIAP] Checklist 4: Location Declaration &amp; Target Audience
Deklarasikan penggunaan Foreground Service Location untuk pelacakan rute sales. Target Audience: Karyawan Perusahaan (Usia 18+). Bebas iklan (No Ads).</a:t>
            </a:r>
          </a:p>
        </p:txBody>
      </p:sp>
    </p:spTree>
    <p:extLst>
      <p:ext uri="{BB962C8B-B14F-4D97-AF65-F5344CB8AC3E}">
        <p14:creationId xmlns:p14="http://schemas.microsoft.com/office/powerpoint/2010/main" val="429294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9EBC37-2D1B-75DF-2E6A-0F3EC02DB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0A1A00-0098-AEC6-232D-4E36CCC3E417}"/>
              </a:ext>
            </a:extLst>
          </p:cNvPr>
          <p:cNvSpPr/>
          <p:nvPr/>
        </p:nvSpPr>
        <p:spPr>
          <a:xfrm>
            <a:off x="635000" y="279400"/>
            <a:ext cx="2794000" cy="254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2700" rIns="101600" bIns="12700"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ROADMAP PUBLIKASI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10D87-145D-F02A-45F7-0E6C1E2CA7A4}"/>
              </a:ext>
            </a:extLst>
          </p:cNvPr>
          <p:cNvSpPr txBox="1"/>
          <p:nvPr/>
        </p:nvSpPr>
        <p:spPr>
          <a:xfrm>
            <a:off x="635000" y="571500"/>
            <a:ext cx="9525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2000" b="1">
                <a:solidFill>
                  <a:srgbClr val="0F172A"/>
                </a:solidFill>
                <a:latin typeface="Segoe UI" panose="020B0502040204020203" pitchFamily="34" charset="0"/>
              </a:rPr>
              <a:t>Rekomendasi Tindak Lanjut &amp; Timeline Rilis Google Play Store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D3BBD-109D-EA28-E5F5-3CFF85832F41}"/>
              </a:ext>
            </a:extLst>
          </p:cNvPr>
          <p:cNvSpPr txBox="1"/>
          <p:nvPr/>
        </p:nvSpPr>
        <p:spPr>
          <a:xfrm>
            <a:off x="635000" y="952500"/>
            <a:ext cx="9525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1050">
                <a:solidFill>
                  <a:srgbClr val="64748B"/>
                </a:solidFill>
                <a:latin typeface="Segoe UI" panose="020B0502040204020203" pitchFamily="34" charset="0"/>
              </a:rPr>
              <a:t>Langkah terstruktur menuju rilis publik yang aman, stabil, dan memenuhi kepatuhan regulasi.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E943AC-F208-1C15-3ECE-04A5C5342E00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A7519EE-DBFF-E66E-DDC8-EFB795CDF5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0" y="279400"/>
            <a:ext cx="1079500" cy="5715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DC2201-7F2D-C1B6-0B67-CE09717A149A}"/>
              </a:ext>
            </a:extLst>
          </p:cNvPr>
          <p:cNvCxnSpPr/>
          <p:nvPr/>
        </p:nvCxnSpPr>
        <p:spPr>
          <a:xfrm>
            <a:off x="635000" y="63246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7CBF2C4-87AD-BB20-AFE3-0881052874ED}"/>
              </a:ext>
            </a:extLst>
          </p:cNvPr>
          <p:cNvSpPr txBox="1"/>
          <p:nvPr/>
        </p:nvSpPr>
        <p:spPr>
          <a:xfrm>
            <a:off x="635000" y="6426200"/>
            <a:ext cx="698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D" sz="900">
                <a:solidFill>
                  <a:srgbClr val="64748B"/>
                </a:solidFill>
                <a:latin typeface="Segoe UI" panose="020B0502040204020203" pitchFamily="34" charset="0"/>
              </a:rPr>
              <a:t>ESA Groups Mobile  |  Resume Penerapan Cyber Security &amp; Kesiapan Publikasi Play 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CA40FF-488D-2551-B02A-78D799D350A8}"/>
              </a:ext>
            </a:extLst>
          </p:cNvPr>
          <p:cNvSpPr txBox="1"/>
          <p:nvPr/>
        </p:nvSpPr>
        <p:spPr>
          <a:xfrm>
            <a:off x="9525000" y="6426200"/>
            <a:ext cx="2032000" cy="184666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Slide 10 of 10  |  v1.0.153</a:t>
            </a:r>
            <a:endParaRPr lang="en-ID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000575-F281-B6C8-BD86-6771991FCF47}"/>
              </a:ext>
            </a:extLst>
          </p:cNvPr>
          <p:cNvSpPr/>
          <p:nvPr/>
        </p:nvSpPr>
        <p:spPr>
          <a:xfrm>
            <a:off x="6350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277F0-1B31-7365-86DA-6693FE8406C4}"/>
              </a:ext>
            </a:extLst>
          </p:cNvPr>
          <p:cNvSpPr/>
          <p:nvPr/>
        </p:nvSpPr>
        <p:spPr>
          <a:xfrm>
            <a:off x="635000" y="1422400"/>
            <a:ext cx="3467100" cy="635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FDAA44-A717-62EF-32F5-A689B30C8751}"/>
              </a:ext>
            </a:extLst>
          </p:cNvPr>
          <p:cNvSpPr txBox="1"/>
          <p:nvPr/>
        </p:nvSpPr>
        <p:spPr>
          <a:xfrm>
            <a:off x="8128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00" b="1">
                <a:solidFill>
                  <a:srgbClr val="0284C7"/>
                </a:solidFill>
                <a:latin typeface="Segoe UI" panose="020B0502040204020203" pitchFamily="34" charset="0"/>
              </a:rPr>
              <a:t>TAHAP 1: INTERNAL TESTING</a:t>
            </a:r>
          </a:p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Upload AAB &amp; Pre-Launch Test</a:t>
            </a:r>
            <a:endParaRPr lang="en-ID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4C3201-B80B-9DE7-FC24-633EAD3EFFBC}"/>
              </a:ext>
            </a:extLst>
          </p:cNvPr>
          <p:cNvSpPr txBox="1"/>
          <p:nvPr/>
        </p:nvSpPr>
        <p:spPr>
          <a:xfrm>
            <a:off x="812800" y="2235200"/>
            <a:ext cx="3111500" cy="170816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Upload app-release.aab:
  Unggah berkas AAB ke jalur Internal Testing di Google Play Console.
- Pre-Launch Report Otomatis:
  Memeriksa hasil pengujian otomatis Google Cloud Test Lab untuk mendeteksi crash, ANR, atau isu layout di puluhan varian smartphone Android.
- Pengujian Terbatas QA Internal:
  Verifikasi alur login, absensi radius geofencing, dan live tracking pada perangkat riil tim lapangan.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909F41-A2E9-51B7-17A4-FE6C5C8E8A21}"/>
              </a:ext>
            </a:extLst>
          </p:cNvPr>
          <p:cNvSpPr/>
          <p:nvPr/>
        </p:nvSpPr>
        <p:spPr>
          <a:xfrm>
            <a:off x="8128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0284C7"/>
                </a:solidFill>
                <a:latin typeface="Segoe UI" panose="020B0502040204020203" pitchFamily="34" charset="0"/>
              </a:rPr>
              <a:t>ESTIMASI: HARI 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6CCABFE-A18C-1E70-353F-7C5E1DDDEF71}"/>
              </a:ext>
            </a:extLst>
          </p:cNvPr>
          <p:cNvSpPr/>
          <p:nvPr/>
        </p:nvSpPr>
        <p:spPr>
          <a:xfrm>
            <a:off x="43561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B25905-323C-496B-B82C-9D1DB1F628CC}"/>
              </a:ext>
            </a:extLst>
          </p:cNvPr>
          <p:cNvSpPr/>
          <p:nvPr/>
        </p:nvSpPr>
        <p:spPr>
          <a:xfrm>
            <a:off x="4356100" y="1422400"/>
            <a:ext cx="3467100" cy="63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756948-E68D-2757-BC01-20ABE29BC83F}"/>
              </a:ext>
            </a:extLst>
          </p:cNvPr>
          <p:cNvSpPr txBox="1"/>
          <p:nvPr/>
        </p:nvSpPr>
        <p:spPr>
          <a:xfrm>
            <a:off x="45339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800" b="1">
                <a:solidFill>
                  <a:srgbClr val="7C3AED"/>
                </a:solidFill>
                <a:latin typeface="Segoe UI" panose="020B0502040204020203" pitchFamily="34" charset="0"/>
              </a:rPr>
              <a:t>TAHAP 2: REVIEW SUBMISSION</a:t>
            </a:r>
          </a:p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Pengisian Form &amp; Submit Review</a:t>
            </a:r>
            <a:endParaRPr lang="en-ID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512AC3-2CF8-5FEA-DF81-EABA5245B06F}"/>
              </a:ext>
            </a:extLst>
          </p:cNvPr>
          <p:cNvSpPr txBox="1"/>
          <p:nvPr/>
        </p:nvSpPr>
        <p:spPr>
          <a:xfrm>
            <a:off x="4533900" y="2235200"/>
            <a:ext cx="3111500" cy="156966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Melengkapi Seluruh Form Regulasi:
  Mengisi Data Safety, Content Rating, Target Audience (Karyawan 18+), dan deklarasi Foreground Service.
- Verifikasi Privacy Policy:
  Memastikan URL https://esa-solutions.id/privacy-policy aktif dan terinput di Play Console.
- Pengajuan Review Tim Google:
  Submit rilis ke tim review pengembang Google Play (estimasi proses evaluasi: 24 hingga 72 jam).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8BD6B4-1900-35CF-C64B-6BFD0B5FF68D}"/>
              </a:ext>
            </a:extLst>
          </p:cNvPr>
          <p:cNvSpPr/>
          <p:nvPr/>
        </p:nvSpPr>
        <p:spPr>
          <a:xfrm>
            <a:off x="45339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7C3AED"/>
                </a:solidFill>
                <a:latin typeface="Segoe UI" panose="020B0502040204020203" pitchFamily="34" charset="0"/>
              </a:rPr>
              <a:t>ESTIMASI: HARI 2 - 3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6F24E5D-5CCC-9780-87A4-6A12A0093FED}"/>
              </a:ext>
            </a:extLst>
          </p:cNvPr>
          <p:cNvSpPr/>
          <p:nvPr/>
        </p:nvSpPr>
        <p:spPr>
          <a:xfrm>
            <a:off x="8077200" y="1422400"/>
            <a:ext cx="34671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6C03B5-BEF2-79C9-77F6-61A7DD93F839}"/>
              </a:ext>
            </a:extLst>
          </p:cNvPr>
          <p:cNvSpPr/>
          <p:nvPr/>
        </p:nvSpPr>
        <p:spPr>
          <a:xfrm>
            <a:off x="8077200" y="1422400"/>
            <a:ext cx="3467100" cy="635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D51463-F787-C9BF-D5EA-5D58365FC8D7}"/>
              </a:ext>
            </a:extLst>
          </p:cNvPr>
          <p:cNvSpPr txBox="1"/>
          <p:nvPr/>
        </p:nvSpPr>
        <p:spPr>
          <a:xfrm>
            <a:off x="8255000" y="1574800"/>
            <a:ext cx="31115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800" b="1">
                <a:solidFill>
                  <a:srgbClr val="059669"/>
                </a:solidFill>
                <a:latin typeface="Segoe UI" panose="020B0502040204020203" pitchFamily="34" charset="0"/>
              </a:rPr>
              <a:t>TAHAP 3: PRODUCTION ROLLOUT</a:t>
            </a:r>
          </a:p>
          <a:p>
            <a:r>
              <a:rPr lang="en-ID" sz="1200" b="1">
                <a:solidFill>
                  <a:srgbClr val="0F172A"/>
                </a:solidFill>
                <a:latin typeface="Segoe UI" panose="020B0502040204020203" pitchFamily="34" charset="0"/>
              </a:rPr>
              <a:t>Peluncuran Publik &amp; Sosialisasi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EF6153-30C5-DAC8-D1D7-69834248DA1D}"/>
              </a:ext>
            </a:extLst>
          </p:cNvPr>
          <p:cNvSpPr txBox="1"/>
          <p:nvPr/>
        </p:nvSpPr>
        <p:spPr>
          <a:xfrm>
            <a:off x="8255000" y="2235200"/>
            <a:ext cx="3111500" cy="170816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D" sz="900">
                <a:solidFill>
                  <a:srgbClr val="334155"/>
                </a:solidFill>
                <a:latin typeface="Segoe UI" panose="020B0502040204020203" pitchFamily="34" charset="0"/>
              </a:rPr>
              <a:t>- Peluncuran Bertahap (Staged Rollout):
  Setelah disetujui Google, aktifkan peluncuran rilis secara bertahap (20% -&gt; 50% -&gt; 100%) untuk memitigasi risiko tak terduga.
- Pengumuman &amp; Sosialisasi Cabang:
  Distribusi panduan pembaruan resmi kepada seluruh manajemen dan karyawan di PT AMK, PT AKP, dan PT ATK.
- Pemantauan Crash &amp; Vitals:
  Monitoring metrik kestabilan aplikasi secara berkala via Firebase Crashlytics &amp; Play Vitals.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AC85BD7-24E3-05C7-946D-EB08CC05E09E}"/>
              </a:ext>
            </a:extLst>
          </p:cNvPr>
          <p:cNvSpPr/>
          <p:nvPr/>
        </p:nvSpPr>
        <p:spPr>
          <a:xfrm>
            <a:off x="8255000" y="5638800"/>
            <a:ext cx="3111500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059669"/>
                </a:solidFill>
                <a:latin typeface="Segoe UI" panose="020B0502040204020203" pitchFamily="34" charset="0"/>
              </a:rPr>
              <a:t>ESTIMASI: HARI 4 - 5</a:t>
            </a:r>
          </a:p>
        </p:txBody>
      </p:sp>
    </p:spTree>
    <p:extLst>
      <p:ext uri="{BB962C8B-B14F-4D97-AF65-F5344CB8AC3E}">
        <p14:creationId xmlns:p14="http://schemas.microsoft.com/office/powerpoint/2010/main" val="3215851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2821</Words>
  <Application>Microsoft Office PowerPoint</Application>
  <PresentationFormat>Widescreen</PresentationFormat>
  <Paragraphs>150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Rahman J</dc:creator>
  <cp:lastModifiedBy>Rahman J</cp:lastModifiedBy>
  <cp:revision>2</cp:revision>
  <dcterms:created xsi:type="dcterms:W3CDTF">2026-09-14T22:42:13Z</dcterms:created>
  <dcterms:modified xsi:type="dcterms:W3CDTF">2026-09-14T22:49:56Z</dcterms:modified>
</cp:coreProperties>
</file>