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05840"/>
            <a:ext cx="1054577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1463040"/>
            <a:ext cx="2926080" cy="384048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ROADMAP TAHAP 12 — BLUEPRINT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FFFFFF"/>
                </a:solidFill>
              </a:defRPr>
            </a:pPr>
            <a:r>
              <a:t>IMPLEMENTATION PLAN &amp; TIMELINE</a:t>
            </a:r>
          </a:p>
          <a:p>
            <a:pPr>
              <a:defRPr sz="1500">
                <a:solidFill>
                  <a:srgbClr val="06B6D4"/>
                </a:solidFill>
              </a:defRPr>
            </a:pPr>
            <a:r>
              <a:t>Fitur Custom Reporting per Prinsiple (Dynamic Form Builder ala Google Forms) &amp; Multi-Tenant Subdomain Portal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023360"/>
            <a:ext cx="2240280" cy="1086965568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4114800"/>
            <a:ext cx="2057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F59E0B"/>
                </a:solidFill>
              </a:defRPr>
            </a:pPr>
            <a:r>
              <a:t>PLATFORM TARGET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Web Admin (Laravel 13/Filament 5) &amp; Mobile (Flutter)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4023360"/>
            <a:ext cx="2240280" cy="1086965568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79" y="4114800"/>
            <a:ext cx="2057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F59E0B"/>
                </a:solidFill>
              </a:defRPr>
            </a:pPr>
            <a:r>
              <a:t>ARSITEKTUR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Multi-Tenant Subdomain &amp; Dynamic JSON Form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4023360"/>
            <a:ext cx="2240280" cy="1086965568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4114800"/>
            <a:ext cx="2057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F59E0B"/>
                </a:solidFill>
              </a:defRPr>
            </a:pPr>
            <a:r>
              <a:t>ESTIMASI TIMELINE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4 - 5 Minggu (20 - 25 Hari Kerja)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4023360"/>
            <a:ext cx="2240280" cy="1086965568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4114800"/>
            <a:ext cx="2057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F59E0B"/>
                </a:solidFill>
              </a:defRPr>
            </a:pPr>
            <a:r>
              <a:t>KESIAPAN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Executive Planning &amp; Architecture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LANDASAN STRATEGIS &amp; TUJUAN BISNIS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1. Executive Summary &amp; Latar Belakang Kebutuhan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310896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TANTANGAN SAAT 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0F172A"/>
                </a:solidFill>
              </a:defRPr>
            </a:pPr>
            <a:r>
              <a:t>• Setiap Prinsiple (klien) memiliki SOP &amp; format pelaporan lapangan yang berbeda (cek stok, display, survey kompetitor, share of shelf).</a:t>
            </a:r>
          </a:p>
          <a:p>
            <a:pPr>
              <a:spcAft>
                <a:spcPts val="1200"/>
              </a:spcAft>
              <a:defRPr sz="1100">
                <a:solidFill>
                  <a:srgbClr val="0F172A"/>
                </a:solidFill>
              </a:defRPr>
            </a:pPr>
            <a:r>
              <a:t>• Membuat form manual melalui koding membutuhkan rilis APK baru berulang kali yang tidak fleksibel.</a:t>
            </a:r>
          </a:p>
          <a:p>
            <a:pPr>
              <a:spcAft>
                <a:spcPts val="1200"/>
              </a:spcAft>
              <a:defRPr sz="1100">
                <a:solidFill>
                  <a:srgbClr val="0F172A"/>
                </a:solidFill>
              </a:defRPr>
            </a:pPr>
            <a:r>
              <a:t>• Prinsiple membutuhkan akses langsung untuk memantau data tanpa tercampur dengan data prinsiple lain.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280160"/>
            <a:ext cx="34747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53712" y="1463040"/>
            <a:ext cx="3108960" cy="411480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SOLUSI YANG DIBANGUN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116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0F172A"/>
                </a:solidFill>
              </a:defRPr>
            </a:pPr>
            <a:r>
              <a:t>• Dynamic Form Builder: Super Admin dapat membuat form pelaporan dinamis seperti Google Forms secara visual (No-Code).</a:t>
            </a:r>
          </a:p>
          <a:p>
            <a:pPr>
              <a:spcAft>
                <a:spcPts val="1200"/>
              </a:spcAft>
              <a:defRPr sz="1100">
                <a:solidFill>
                  <a:srgbClr val="0F172A"/>
                </a:solidFill>
              </a:defRPr>
            </a:pPr>
            <a:r>
              <a:t>• Mobile Dynamic Engine: Aplikasi mobile membaca skema form secara on-the-fly tanpa perlu update APK di PlayStore/HP.</a:t>
            </a:r>
          </a:p>
          <a:p>
            <a:pPr>
              <a:spcAft>
                <a:spcPts val="1200"/>
              </a:spcAft>
              <a:defRPr sz="1100">
                <a:solidFill>
                  <a:srgbClr val="0F172A"/>
                </a:solidFill>
              </a:defRPr>
            </a:pPr>
            <a:r>
              <a:t>• Portal Khusus Subdomain: Setiap prinsiple mendapatkan portal mandiri ({prinsiple}.appsend.my.id) dengan branding eksklusif.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280160"/>
            <a:ext cx="34747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93023" y="1463040"/>
            <a:ext cx="310896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NILAI TAMBAH (BUSINESS VALUE)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0116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>
                <a:solidFill>
                  <a:srgbClr val="0F172A"/>
                </a:solidFill>
              </a:defRPr>
            </a:pPr>
            <a:r>
              <a:t>• Time-to-Market Instan: Pembuatan form baru untuk campaign/event selesai dalam hitungan menit.</a:t>
            </a:r>
          </a:p>
          <a:p>
            <a:pPr>
              <a:spcAft>
                <a:spcPts val="1200"/>
              </a:spcAft>
              <a:defRPr sz="1100">
                <a:solidFill>
                  <a:srgbClr val="0F172A"/>
                </a:solidFill>
              </a:defRPr>
            </a:pPr>
            <a:r>
              <a:t>• Keamanan &amp; Isolasi Data Penuh: Data antar prinsiple terisolasi 100% secara sistem.</a:t>
            </a:r>
          </a:p>
          <a:p>
            <a:pPr>
              <a:spcAft>
                <a:spcPts val="1200"/>
              </a:spcAft>
              <a:defRPr sz="1100">
                <a:solidFill>
                  <a:srgbClr val="0F172A"/>
                </a:solidFill>
              </a:defRPr>
            </a:pPr>
            <a:r>
              <a:t>• Efisiensi Operasional: Otomatisasi validasi laporan, export Excel custom, dan pelacakan GPS real-time.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ARSITEKTUR &amp; ALUR KERJA SISTEM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2. Arsitektur Solusi 3 Pilar (End-to-End Workflow)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3108960" cy="502920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PILAR 1: SUPER ADMIN HUB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Laravel 13 &amp; Filament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✔ Visual Form Builder (Drag &amp; drop / reorder fields).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✔ Manajemen Subdomain &amp; Whitelabel Branding.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✔ Penugasan Template (per Prinsiple / Jabatan / Event).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✔ Hak Akses Master &amp; Global Analytics.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280160"/>
            <a:ext cx="347472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53712" y="1463040"/>
            <a:ext cx="3108960" cy="50292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PILAR 2: PORTAL KHUSUS PRINSIPLE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{subdomain}.appsend.my.id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10312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✔ Data Isolation Middleware (100% Tenant Isolation).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✔ Custom Logo, Warna Brand &amp; Portal Title.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✔ Tabel Laporan Masuk Dinamis &amp; Detail GPS/Foto.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✔ Approval Workflow &amp; Export Excel/PDF Dinamis.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280160"/>
            <a:ext cx="347472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93023" y="1463040"/>
            <a:ext cx="3108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PILAR 3: MOBILE DYNAMIC ENGINE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Flutter Dynamic JSON Renderer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10312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✔ Fetch skema JSON form aktif sesuai jadwal visit.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✔ Render UI input dinamis secara on-the-fly.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✔ Validasi Geotagging GPS, Watermark, &amp; Kamera Anti-Fake.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✔ Penyimpanan Offline &amp; Sinkronisasi Otomatis.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86400"/>
            <a:ext cx="10728655" cy="914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32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INTEGRASI DATA REAL-TIME &amp; ZERO DOWNTIME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Perubahan template form di Super Admin langsung otomatis tampil di aplikasi mobile saat karyawan memulai kunjungan. Laporan yang di-submit karyawan langsung muncul di dashboard portal prinsiple secara real-time.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KOMPONEN FORM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3. Fitur Utama: Visual Dynamic Form Builder (Google Forms Style)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52BA"/>
                </a:solidFill>
              </a:defRPr>
            </a:pPr>
            <a:r>
              <a:t>15+ TIPE INPUT FIELD FLEKSIBEL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Teks &amp; Deskripsi: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Teks Singkat, Paragraf/Catatan, Number, Currency (Rupiah).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Pilihan Ganda: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Dropdown Pilihan, Radio Button, Multi-Select Checkbox.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Bukti Visual (Kamera):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Foto Kamera Tunggal, Multi-Foto (Before/After), Watermark GPS.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Verifikasi Lapangan: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Tanda Tangan Digital (Signature Pad), Barcode/QR Scanner.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Penilaian &amp; Tanggal: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Star Rating (1-5), Slider Skala, Date Picker, Time Picker.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Lokasi &amp; Koordinat: 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Titik Lokasi GPS Otomatis &amp; Radius Validation.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53035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37160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52BA"/>
                </a:solidFill>
              </a:defRPr>
            </a:pPr>
            <a:r>
              <a:t>KONTROL &amp; LOGIKA VALIDASI CANGGIH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✔ Drag &amp; Drop Reordering: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Mengatur urutan pertanyaan dengan mudah dan cepat tanpa koding.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✔ Mandatory &amp; Custom Rules: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Menentukan field wajib/opsional, batasan karakter, nilai min/max.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✔ Conditional Visibility Logic: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Menampilkan pertanyaan lanjutan berdasarkan jawaban pilihan sebelumnya.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✔ Template Assignment Rules: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Menugaskan template form khusus untuk Prinsiple A, Jabatan Tertentu (SPG/MD/TL), atau Toko Spesifik.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✔ Instant Live Preview: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Fitur preview tampilan mobile form secara real-time sebelum dipublish.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✔ Version History &amp; Cloning: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   Menyalin template yang sudah ada dan melacak riwayat revisi form.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PORTAL PRINSIPLE &amp; DATA ISOLATION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4. Fitur Utama: Portal Mandiri Khusus Prinsiple (Multi-Tenant)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5780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417319"/>
            <a:ext cx="4983480" cy="365760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SUBDOMAIN &amp; WHITELABEL BRANDING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Akses via subdomain tersendiri, misal: unilever.appsend.my.id atau mayora.appsend.my.id.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Tampilan UI menyesuaikan logo, warna identitas brand (hex primary color), dan custom portal banner.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Login terpisah khusus PIC / Supervisor / Manajemen Prinsiple.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80160"/>
            <a:ext cx="525780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417319"/>
            <a:ext cx="498348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TABEL LAPORAN MASUK DINAMIS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2880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Kolom tabel otomatis membaca field form yang dibuat di template tanpa koding.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Filter komprehensif: rentang tanggal, nama outlet, nama SPG/MD, status verifikasi.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Modal detail submission lengkap dengan galeri foto, tanda tangan, dan peta GPS.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79"/>
            <a:ext cx="525780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3977639"/>
            <a:ext cx="498348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APPROVAL &amp; VERIFIKASI LAPORAN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89119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Fitur verifikasi langsung oleh Admin Prinsiple: Status Valid / Butuh Revisi / Ditolak.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Catatan verifikator langsung ternotifikasi ke aplikasi mobile karyawan.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Audit trail lengkap mencatat siapa yang memverifikasi dan waktu verifikasi.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40479"/>
            <a:ext cx="525780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60" y="3977639"/>
            <a:ext cx="49834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EKSPOR EXCEL &amp; PDF OTOMATIS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389119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1-Click Export Excel: Format header kolom otomatis menyesuaikan field form dinamis.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Download PDF Laporan Kunjungan Resmi siap cetak / arsip audit.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Asynchronous queue export untuk dataset puluhan ribu baris tanpa server hang.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FLUTTER ENGINE &amp; OFFLINE RESILIENCE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5. Fitur Utama: Mobile Dynamic Form Engine (Flutter)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3108960" cy="438912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ON-THE-FLY UI RENDERING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50">
                <a:solidFill>
                  <a:srgbClr val="0F172A"/>
                </a:solidFill>
              </a:defRPr>
            </a:pPr>
            <a:r>
              <a:t>✔ Aplikasi mobile secara dinamis merender widget input (Text, Dropdown, Checkbox, Slider) berdasarkan skema JSON dari API.</a:t>
            </a:r>
          </a:p>
          <a:p>
            <a:pPr>
              <a:spcAft>
                <a:spcPts val="1400"/>
              </a:spcAft>
              <a:defRPr sz="1050">
                <a:solidFill>
                  <a:srgbClr val="0F172A"/>
                </a:solidFill>
              </a:defRPr>
            </a:pPr>
            <a:r>
              <a:t>✔ Tidak memerlukan compile atau update APK di PlayStore saat ada form baru atau revisi pertanyaan.</a:t>
            </a:r>
          </a:p>
          <a:p>
            <a:pPr>
              <a:spcAft>
                <a:spcPts val="1400"/>
              </a:spcAft>
              <a:defRPr sz="1050">
                <a:solidFill>
                  <a:srgbClr val="0F172A"/>
                </a:solidFill>
              </a:defRPr>
            </a:pPr>
            <a:r>
              <a:t>✔ Validasi input di sisi client berjalan real-time sebelum tombol submit aktif.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280160"/>
            <a:ext cx="34747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53712" y="1463040"/>
            <a:ext cx="3108960" cy="438912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GEOTAGGING &amp; KAMERA ANTI-FAKE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116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50">
                <a:solidFill>
                  <a:srgbClr val="0F172A"/>
                </a:solidFill>
              </a:defRPr>
            </a:pPr>
            <a:r>
              <a:t>✔ Pengambilan foto wajib via kamera langsung (mencegah upload dari galeri).</a:t>
            </a:r>
          </a:p>
          <a:p>
            <a:pPr>
              <a:spcAft>
                <a:spcPts val="1400"/>
              </a:spcAft>
              <a:defRPr sz="1050">
                <a:solidFill>
                  <a:srgbClr val="0F172A"/>
                </a:solidFill>
              </a:defRPr>
            </a:pPr>
            <a:r>
              <a:t>✔ Watermark otomatis tercetak permanen pada foto (Nama Karyawan, Nama Outlet, Jam &amp; Tanggal, Koordinat GPS).</a:t>
            </a:r>
          </a:p>
          <a:p>
            <a:pPr>
              <a:spcAft>
                <a:spcPts val="1400"/>
              </a:spcAft>
              <a:defRPr sz="1050">
                <a:solidFill>
                  <a:srgbClr val="0F172A"/>
                </a:solidFill>
              </a:defRPr>
            </a:pPr>
            <a:r>
              <a:t>✔ Validasi radius GPS mendeteksi apakah karyawan benar-benar berada di lokasi toko.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280160"/>
            <a:ext cx="34747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93023" y="1463040"/>
            <a:ext cx="3108960" cy="43891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OFFLINE STORAGE &amp; AUTO-SYNC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01168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50">
                <a:solidFill>
                  <a:srgbClr val="0F172A"/>
                </a:solidFill>
              </a:defRPr>
            </a:pPr>
            <a:r>
              <a:t>✔ Form pelaporan tetap dapat diisi penuh meskipun di area basemen/remote tanpa koneksi internet.</a:t>
            </a:r>
          </a:p>
          <a:p>
            <a:pPr>
              <a:spcAft>
                <a:spcPts val="1400"/>
              </a:spcAft>
              <a:defRPr sz="1050">
                <a:solidFill>
                  <a:srgbClr val="0F172A"/>
                </a:solidFill>
              </a:defRPr>
            </a:pPr>
            <a:r>
              <a:t>✔ Data form dan foto tersimpan aman di database lokal HP (SQLite/Hive).</a:t>
            </a:r>
          </a:p>
          <a:p>
            <a:pPr>
              <a:spcAft>
                <a:spcPts val="1400"/>
              </a:spcAft>
              <a:defRPr sz="1050">
                <a:solidFill>
                  <a:srgbClr val="0F172A"/>
                </a:solidFill>
              </a:defRPr>
            </a:pPr>
            <a:r>
              <a:t>✔ Auto-Sync otomatis mengirimkan data saat HP kembali mendapatkan koneksi internet.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SKEMA TABEL &amp; RELASI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6. Arsitektur Basis Data (EAV &amp; Multi-Tenant Schema)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17319"/>
            <a:ext cx="32004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52BA"/>
                </a:solidFill>
              </a:defRPr>
            </a:pPr>
            <a:r>
              <a:t>principals (Extended)</a:t>
            </a:r>
          </a:p>
          <a:p>
            <a:pPr>
              <a:spcAft>
                <a:spcPts val="600"/>
              </a:spcAft>
              <a:defRPr sz="850">
                <a:solidFill>
                  <a:srgbClr val="64748B"/>
                </a:solidFill>
              </a:defRPr>
            </a:pPr>
            <a:r>
              <a:t>Master Prinsiple &amp; Branding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subdomain (unique, slug format)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theme_color (hex color #0F52BA)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logo_path &amp; banner_path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portal_title &amp; is_active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280160"/>
            <a:ext cx="34747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417319"/>
            <a:ext cx="32004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52BA"/>
                </a:solidFill>
              </a:defRPr>
            </a:pPr>
            <a:r>
              <a:t>report_templates</a:t>
            </a:r>
          </a:p>
          <a:p>
            <a:pPr>
              <a:spcAft>
                <a:spcPts val="600"/>
              </a:spcAft>
              <a:defRPr sz="850">
                <a:solidFill>
                  <a:srgbClr val="64748B"/>
                </a:solidFill>
              </a:defRPr>
            </a:pPr>
            <a:r>
              <a:t>Definisi Master Form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principal_id &amp; title &amp; description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category (Stok/Display/Survey)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require_gps &amp; require_signature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is_active &amp; version_number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280160"/>
            <a:ext cx="34747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47304" y="1417319"/>
            <a:ext cx="32004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52BA"/>
                </a:solidFill>
              </a:defRPr>
            </a:pPr>
            <a:r>
              <a:t>report_form_fields</a:t>
            </a:r>
          </a:p>
          <a:p>
            <a:pPr>
              <a:spcAft>
                <a:spcPts val="600"/>
              </a:spcAft>
              <a:defRPr sz="850">
                <a:solidFill>
                  <a:srgbClr val="64748B"/>
                </a:solidFill>
              </a:defRPr>
            </a:pPr>
            <a:r>
              <a:t>Elemen Input Dinamis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report_template_id &amp; field_name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field_type (text, number, photo, etc)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options (json for dropdown/radio)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is_required &amp; validation_rules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order_index (urutan drag-drop)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79"/>
            <a:ext cx="34747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32004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52BA"/>
                </a:solidFill>
              </a:defRPr>
            </a:pPr>
            <a:r>
              <a:t>report_submissions</a:t>
            </a:r>
          </a:p>
          <a:p>
            <a:pPr>
              <a:spcAft>
                <a:spcPts val="600"/>
              </a:spcAft>
              <a:defRPr sz="850">
                <a:solidFill>
                  <a:srgbClr val="64748B"/>
                </a:solidFill>
              </a:defRPr>
            </a:pPr>
            <a:r>
              <a:t>Header Laporan Masuk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submission_code (unique code)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principal_id, employee_id, outlet_id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latitude, longitude, submitted_at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status (pending, approved, rejected)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verified_by &amp; verification_notes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3840479"/>
            <a:ext cx="34747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3977639"/>
            <a:ext cx="32004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52BA"/>
                </a:solidFill>
              </a:defRPr>
            </a:pPr>
            <a:r>
              <a:t>report_submission_values</a:t>
            </a:r>
          </a:p>
          <a:p>
            <a:pPr>
              <a:spcAft>
                <a:spcPts val="600"/>
              </a:spcAft>
              <a:defRPr sz="850">
                <a:solidFill>
                  <a:srgbClr val="64748B"/>
                </a:solidFill>
              </a:defRPr>
            </a:pPr>
            <a:r>
              <a:t>Detail Nilai Isian (EAV)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report_submission_id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report_form_field_id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field_name &amp; field_type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value_text, value_number, value_json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media_url (file/foto path)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840479"/>
            <a:ext cx="34747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3977639"/>
            <a:ext cx="32004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52BA"/>
                </a:solidFill>
              </a:defRPr>
            </a:pPr>
            <a:r>
              <a:t>report_template_assignments</a:t>
            </a:r>
          </a:p>
          <a:p>
            <a:pPr>
              <a:spcAft>
                <a:spcPts val="600"/>
              </a:spcAft>
              <a:defRPr sz="850">
                <a:solidFill>
                  <a:srgbClr val="64748B"/>
                </a:solidFill>
              </a:defRPr>
            </a:pPr>
            <a:r>
              <a:t>Aturan Penugasan Form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report_template_id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assigned_principal_id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assigned_position_id (SPG/MD)</a:t>
            </a:r>
          </a:p>
          <a:p>
            <a:pPr>
              <a:spcAft>
                <a:spcPts val="200"/>
              </a:spcAft>
              <a:defRPr sz="900">
                <a:solidFill>
                  <a:srgbClr val="0F172A"/>
                </a:solidFill>
              </a:defRPr>
            </a:pPr>
            <a:r>
              <a:t>• assigned_branch_id / outlet_id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JADWAL IMPLEMENTASI &amp;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7. Timeline Proses Development (Roadmap 5 Minggu)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728655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109728" cy="7772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07592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FASE 1: Database &amp; Multi-Tenant Core</a:t>
            </a:r>
          </a:p>
          <a:p>
            <a:pPr>
              <a:defRPr sz="900" b="1">
                <a:solidFill>
                  <a:srgbClr val="0F52BA"/>
                </a:solidFill>
              </a:defRPr>
            </a:pPr>
            <a:r>
              <a:t>⏱ Minggu 1 (Hari 1 - 4)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32588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Migrasi Database (`principals`, `report_*`), Subdomain Routing Middleware, Tenant Scoping Enforcer.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03120"/>
            <a:ext cx="10728655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103120"/>
            <a:ext cx="109728" cy="777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76272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FASE 2: Super Admin Dynamic Form Builder</a:t>
            </a:r>
          </a:p>
          <a:p>
            <a:pPr>
              <a:defRPr sz="900" b="1">
                <a:solidFill>
                  <a:srgbClr val="2563EB"/>
                </a:solidFill>
              </a:defRPr>
            </a:pPr>
            <a:r>
              <a:t>⏱ Minggu 1 - 2 (Hari 5 - 9)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19456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Visual Drag &amp; Drop Form Builder di Filament 5, Field Configuration (15+ types), Form Assignment Engine.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71800"/>
            <a:ext cx="10728655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2971800"/>
            <a:ext cx="109728" cy="777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44952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FASE 3: Mobile Dynamic Form Engine (Flutter)</a:t>
            </a:r>
          </a:p>
          <a:p>
            <a:pPr>
              <a:defRPr sz="900" b="1">
                <a:solidFill>
                  <a:srgbClr val="06B6D4"/>
                </a:solidFill>
              </a:defRPr>
            </a:pPr>
            <a:r>
              <a:t>⏱ Minggu 2 - 3 (Hari 10 - 14)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06324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Dynamic JSON Form UI Renderer, Geotagging &amp; Watermark Camera, Local Offline Storage &amp; Auto-Sync.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79"/>
            <a:ext cx="10728655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3840479"/>
            <a:ext cx="109728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13631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FASE 4: Portal Khusus Prinsiple &amp; Reporting</a:t>
            </a:r>
          </a:p>
          <a:p>
            <a:pPr>
              <a:defRPr sz="900" b="1">
                <a:solidFill>
                  <a:srgbClr val="F59E0B"/>
                </a:solidFill>
              </a:defRPr>
            </a:pPr>
            <a:r>
              <a:t>⏱ Minggu 3 - 4 (Hari 15 - 19)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3931919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Whitelabel Subdomain Layout, Dynamic Submissions Table, Verification/Approval Flow, Custom Excel/PDF Export.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09160"/>
            <a:ext cx="10728655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4709160"/>
            <a:ext cx="109728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782312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FASE 5: Testing, Security &amp; UAT</a:t>
            </a:r>
          </a:p>
          <a:p>
            <a:pPr>
              <a:defRPr sz="900" b="1">
                <a:solidFill>
                  <a:srgbClr val="10B981"/>
                </a:solidFill>
              </a:defRPr>
            </a:pPr>
            <a:r>
              <a:t>⏱ Minggu 4 - 5 (Hari 20 - 22)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480060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End-to-end Integration Testing, Data Isolation Security Audit, Load Testing Query Ekspor, UAT bersama Prinsiple.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577840"/>
            <a:ext cx="10728655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577840"/>
            <a:ext cx="109728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650992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FASE 6: Deployment Live &amp; Handover</a:t>
            </a:r>
          </a:p>
          <a:p>
            <a:pPr>
              <a:defRPr sz="900" b="1">
                <a:solidFill>
                  <a:srgbClr val="0F172A"/>
                </a:solidFill>
              </a:defRPr>
            </a:pPr>
            <a:r>
              <a:t>⏱ Minggu 5 (Hari 23 - 25)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669279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Wildcard Subdomain DNS (*.appsend.my.id) &amp; SSL Setup, Production Release APK, User Guide &amp; Admin Training.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PEMBAGIAN TUGAS &amp; TANGGUNG JAWAB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8. Alokasi Tim &amp; Work Breakdown Structure (WBS)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260604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463040"/>
            <a:ext cx="2331720" cy="502920"/>
          </a:xfrm>
          <a:prstGeom prst="round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BACKEND &amp; FILAMENT ENGINEER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331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Desain skema database &amp; Eloquent relations.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Multi-Tenant Middleware &amp; Subdomain routing.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Dynamic Form Builder UI &amp; Preview engine.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Dynamic Excel/PDF Export generator with Queue.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280160"/>
            <a:ext cx="260604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93592" y="1463040"/>
            <a:ext cx="2331720" cy="50292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MOBILE FLUTTER ENGINEER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103120"/>
            <a:ext cx="2331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Dynamic JSON Form schema parser &amp; renderer.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Camera watermark &amp; Geotagging GPS validator.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Offline database cache &amp; background auto-sync.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UI/UX form filling optimization di HP Android/iOS.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280160"/>
            <a:ext cx="260604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18504" y="1463040"/>
            <a:ext cx="233172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UI/UX &amp; FRONTEND DESIGNER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2103120"/>
            <a:ext cx="2331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Desain whitelabel portal khusus prinsiple.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Theme customizer (color palette, dynamic assets).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Dashboard metric widget &amp; responsive table.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Design system form builder components.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280160"/>
            <a:ext cx="260604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043416" y="1463040"/>
            <a:ext cx="2331720" cy="5029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</a:defRPr>
            </a:pPr>
            <a:r>
              <a:t>QA &amp; DEVOPS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3416" y="2103120"/>
            <a:ext cx="2331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Konfigurasi Wildcard DNS &amp; Wildcard SSL di aaPanel.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Testing isolasi data multi-tenant &amp; security check.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Load testing form submission &amp; bulk report export.</a:t>
            </a:r>
          </a:p>
          <a:p>
            <a:pPr>
              <a:spcAft>
                <a:spcPts val="1000"/>
              </a:spcAft>
              <a:defRPr sz="950">
                <a:solidFill>
                  <a:srgbClr val="0F172A"/>
                </a:solidFill>
              </a:defRPr>
            </a:pPr>
            <a:r>
              <a:t>✔ Dokumentasi API &amp; User Manual Book.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5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RISK ASSESSMENT &amp;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9. Manajemen Risiko &amp; Strategi Mitigasi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F52BA"/>
                </a:solidFill>
              </a:defRPr>
            </a:pPr>
            <a:r>
              <a:t>⚠️ RISIKO #1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Kompleksitas Render Form Dinamis di Mobile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37160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</a:defRPr>
            </a:pPr>
            <a:r>
              <a:t>POTENSI DAMPAK: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Tipe input yang variatif dapat menyebabkan crash jika skema JSON tidak sesuai.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3716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</a:defRPr>
            </a:pPr>
            <a:r>
              <a:t>STRATEGI MITIGASI: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Menstandarisasi JSON Schema formal + fallback default widget jika ada field yang belum dikenali.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1460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59E0B"/>
                </a:solidFill>
              </a:defRPr>
            </a:pPr>
            <a:r>
              <a:t>⚠️ RISIKO #2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Kapasitas Penyimpanan Foto Bukti Lapangan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</a:defRPr>
            </a:pPr>
            <a:r>
              <a:t>POTENSI DAMPAK: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Ribuan foto per hari dapat membebani disk server jika tidak dikompresi.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60604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</a:defRPr>
            </a:pPr>
            <a:r>
              <a:t>STRATEGI MITIGASI: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Kompresi gambar otomatis di sisi client (Max 300KB) + integrasi Cloud Object Storage lifecycle.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39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40479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</a:defRPr>
            </a:pPr>
            <a:r>
              <a:t>⚠️ RISIKO #3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Potensi Kebocoran Data Antar Prinsiple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840479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</a:defRPr>
            </a:pPr>
            <a:r>
              <a:t>POTENSI DAMPAK: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Admin Prinsiple A tidak boleh melihat data Prinsiple B dalam kondisi apa pun.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840479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</a:defRPr>
            </a:pPr>
            <a:r>
              <a:t>STRATEGI MITIGASI: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Penerapan Global Eloquent Scope + Tenant Middleware enforcer di level database &amp; routing.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749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06B6D4"/>
                </a:solidFill>
              </a:defRPr>
            </a:pPr>
            <a:r>
              <a:t>⚠️ RISIKO #4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Performa Ekspor Excel Ribuan Laporan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07492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</a:defRPr>
            </a:pPr>
            <a:r>
              <a:t>POTENSI DAMPAK: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Ekspor puluhan ribu baris dengan kolom dinamis dapat menyebabkan memory exhaustion.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07492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</a:defRPr>
            </a:pPr>
            <a:r>
              <a:t>STRATEGI MITIGASI: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Menggunakan Background Queue Job (Laravel Queue) dengan notifikasi download saat file selesai di-generate.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914400"/>
            <a:ext cx="10728655" cy="5029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10. Deliverables &amp; Langkah Selanjutnya (Next Steps)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011680"/>
            <a:ext cx="4846320" cy="34747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0312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59E0B"/>
                </a:solidFill>
              </a:defRPr>
            </a:pPr>
            <a:r>
              <a:t>OUTPUT &amp; DELIVERABLES RESMI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✔ Dynamic Form Builder di Panel Super Admin.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✔ Portal Khusus Multi-Tenant ({prinsiple}.appsend.my.id).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✔ Aplikasi Mobile Android &amp; iOS dengan Dynamic Form Engine.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✔ Modul Ekspor Excel &amp; PDF Otomatis.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✔ Dokumentasi Teknis &amp; Panduan Penggunaan (User Manual).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011680"/>
            <a:ext cx="4846320" cy="34747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6B6D4"/>
                </a:solidFill>
              </a:defRPr>
            </a:pPr>
            <a:r>
              <a:t>LANGKAH EKSEKUSI BERIKUTNYA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1. Persetujuan Rencana Kerja &amp; Alokasi Timeline dari Stakeholder.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2. Setup DNS Wildcard (*.appsend.my.id) &amp; SSL Certificate di Server.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3. Kick-off Sprint 1: Migrasi Database &amp; Multi-Tenant Routing.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4. Pembuatan Mockup &amp; Review Form Builder bersama tim lapangan.</a:t>
            </a:r>
          </a:p>
          <a:p>
            <a:pPr>
              <a:spcAft>
                <a:spcPts val="600"/>
              </a:spcAft>
              <a:defRPr sz="1000">
                <a:solidFill>
                  <a:srgbClr val="FFFFFF"/>
                </a:solidFill>
              </a:defRPr>
            </a:pPr>
            <a:r>
              <a:t>5. Testing bertahap per milestone hingga Deployment 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