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914400"/>
            <a:ext cx="1054577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1280160"/>
            <a:ext cx="3291840" cy="384048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ROADMAP TAHAP 12 — BLUEPRINT &amp;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FFFFF"/>
                </a:solidFill>
              </a:defRPr>
            </a:pPr>
            <a:r>
              <a:t>IMPLEMENTATION PLAN &amp; TIMELINE</a:t>
            </a:r>
          </a:p>
          <a:p>
            <a:pPr>
              <a:spcAft>
                <a:spcPts val="600"/>
              </a:spcAft>
              <a:defRPr sz="1400">
                <a:solidFill>
                  <a:srgbClr val="06B6D4"/>
                </a:solidFill>
              </a:defRPr>
            </a:pPr>
            <a:r>
              <a:t>Fitur Custom Reporting per Prinsiple (Dynamic Form Builder ala Google Forms) &amp; Multi-Tenant Subdomain Portal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Validasi &amp; Analisis Studi Kasus 3 Prinsiple Riil: DULUX (AkzoNobel), FONTERRA, &amp; MAMASUKA (Daesang)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4251960"/>
            <a:ext cx="2267712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343400"/>
            <a:ext cx="20848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F59E0B"/>
                </a:solidFill>
              </a:defRPr>
            </a:pPr>
            <a:r>
              <a:t>PLATFORM TARGET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Web Admin (Laravel/Filament) &amp; Mobile (Flutter)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75887" y="4251960"/>
            <a:ext cx="2267712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7" y="4343400"/>
            <a:ext cx="20848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F59E0B"/>
                </a:solidFill>
              </a:defRPr>
            </a:pPr>
            <a:r>
              <a:t>STUDI KASUS RIIL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Dulux, Fonterra, Mamasuka (Validated)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4251960"/>
            <a:ext cx="2267712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3056" y="4343400"/>
            <a:ext cx="20848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F59E0B"/>
                </a:solidFill>
              </a:defRPr>
            </a:pPr>
            <a:r>
              <a:t>ESTIMASI TIMELINE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4 - 5 Minggu (20 - 25 Hari Kerja)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67344" y="4251960"/>
            <a:ext cx="2267712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58784" y="4343400"/>
            <a:ext cx="208483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 b="1">
                <a:solidFill>
                  <a:srgbClr val="F59E0B"/>
                </a:solidFill>
              </a:defRPr>
            </a:pPr>
            <a:r>
              <a:t>KESESUAIAN PLAN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100% Match &amp; Sesuai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LANDASAN STRATEGIS &amp; TUJUAN BISNIS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1. Executive Summary &amp; Latar Belakang Kebutuhan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747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310896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TANTANGAN SAAT 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t>• Setiap Prinsiple memiliki SOP &amp; format pelaporan lapangan yang berbeda (cek stok, display, survey kompetitor, share of shelf, POSM).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t>• Membuat form manual melalui koding membutuhkan rilis APK baru berulang kali yang lambat dan berisiko bug.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t>• Prinsiple membutuhkan akses portal mandiri untuk memantau data secara real-time tanpa tercampur data prinsiple lain.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747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3712" y="1371600"/>
            <a:ext cx="3108960" cy="411480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SOLUSI YANG DIBANGUN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2024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t>• Dynamic Form Builder: Super Admin dapat membuat form pelaporan dinamis seperti Google Forms secara visual (No-Code).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t>• Mobile Dynamic Engine: Aplikasi mobile membaca skema form secara on-the-fly tanpa perlu update APK di PlayStore.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t>• Portal Khusus Subdomain: Setiap prinsiple memiliki portal mandiri ({prinsiple}.appsend.my.id) dengan branding eksklusif.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234440"/>
            <a:ext cx="34747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93023" y="1371600"/>
            <a:ext cx="310896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NILAI TAMBAH (BUSINESS VALUE)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192024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t>• Time-to-Market Instan: Pembuatan form baru untuk campaign/event selesai dalam hitungan menit.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t>• Keamanan &amp; Isolasi Data Penuh: Data antar prinsiple terisolasi 100% secara sistem.</a:t>
            </a:r>
          </a:p>
          <a:p>
            <a:pPr>
              <a:spcAft>
                <a:spcPts val="1200"/>
              </a:spcAft>
              <a:defRPr sz="1050">
                <a:solidFill>
                  <a:srgbClr val="0F172A"/>
                </a:solidFill>
              </a:defRPr>
            </a:pPr>
            <a:r>
              <a:t>• Efisiensi Operasional: Otomatisasi validasi laporan, export Excel custom, dan pelacakan GPS real-time.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ANALISIS KEBUTUHAN SPESIFIK PRINSIPLE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2. Studi Kasus &amp; Analisis Format Laporan 3 Prinsiple Riil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747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3108960" cy="502920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DULUX (AkzoNobel)</a:t>
            </a:r>
          </a:p>
          <a:p>
            <a:pPr algn="ctr">
              <a:defRPr sz="850">
                <a:solidFill>
                  <a:srgbClr val="FFFFFF"/>
                </a:solidFill>
              </a:defRPr>
            </a:pPr>
            <a:r>
              <a:t>Cat &amp; Home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✔ Kebutuhan Pelaporan Utama: Offtake (Penjualan), Stock Cek, OOS (Barang Kosong), CBP, Market Share Kompetitor (Jotun/Nippon/Mowilex), &amp; Visit TL.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✔ Tantangan Lapangan: Sebelumnya menggunakan Google Form / Jotform eksternal terpisah yang tercecer dari data absensi.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✔ Target Implementasi: Integrasi total formulir Offtake &amp; Market Share ke dalam 1 aplikasi mobile ESA.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747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3712" y="1371600"/>
            <a:ext cx="3108960" cy="5029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FONTERRA</a:t>
            </a:r>
          </a:p>
          <a:p>
            <a:pPr algn="ctr">
              <a:defRPr sz="850">
                <a:solidFill>
                  <a:srgbClr val="FFFFFF"/>
                </a:solidFill>
              </a:defRPr>
            </a:pPr>
            <a:r>
              <a:t>Dairy &amp; Fast-Moving Consumer Goods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01168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✔ Kebutuhan Pelaporan Utama: Offtake SPG, Stock &amp; OOS Reason, Pricing Normal vs Promo, Kemasan &amp; Sticker Baru, Additional Display, &amp; POSM Cluster.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✔ Tantangan Lapangan: Memerlukan validasi 3 foto POSM, barcode scanner promo tag, dan pencatatan nomor distributor toko.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✔ Target Implementasi: Form Builder multi-foto, kalkulator promo price, dan rekap export Excel multi-sheet otomatis.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234440"/>
            <a:ext cx="34747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93023" y="1371600"/>
            <a:ext cx="3108960" cy="50292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MAMASUKA (Daesang)</a:t>
            </a:r>
          </a:p>
          <a:p>
            <a:pPr algn="ctr">
              <a:defRPr sz="850">
                <a:solidFill>
                  <a:srgbClr val="FFFFFF"/>
                </a:solidFill>
              </a:defRPr>
            </a:pPr>
            <a:r>
              <a:t>Food &amp; Culinary Seasoning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201168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✔ Kebutuhan Pelaporan Utama: Rent Display, Add Display (Approval Koordinator), Pricing/Promo Own vs Competitor, Check Stock (PO PIC Toko), Sell Out Reguler vs Demo, &amp; Expired Date Alert.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✔ Tantangan Lapangan: Alur persetujuan display (Approve/Reject) dan monitoring kadaluarsa produk.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✔ Target Implementasi: Form Builder dengan workflow approval, expired date alert, dan komparasi harga kompetitor.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VALIDASI KESESUAIAN ARSITEKTUR FORM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3. Validasi: Mapping Kebutuhan 3 Prinsiple ke 15+ Tipe Field ESA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07592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52BA"/>
                </a:solidFill>
              </a:defRPr>
            </a:pPr>
            <a:r>
              <a:t>📌 KEBUTUHAN RIIL: Offtake &amp; Sell Out (Dulux / Fonterra / Mamasuka)</a:t>
            </a:r>
          </a:p>
          <a:p>
            <a:pPr>
              <a:defRPr sz="900" b="1">
                <a:solidFill>
                  <a:srgbClr val="10B981"/>
                </a:solidFill>
              </a:defRPr>
            </a:pPr>
            <a:r>
              <a:t>💡 Solusi Dynamic Field ESA: Number / Currency Input + Dropdown SKU Produk + Kalkulasi Subtotal Otomatis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307592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52BA"/>
                </a:solidFill>
              </a:defRPr>
            </a:pPr>
            <a:r>
              <a:t>📌 KEBUTUHAN RIIL: Check Stock, OOS &amp; Reason (Ketiga Prinsiple)</a:t>
            </a:r>
          </a:p>
          <a:p>
            <a:pPr>
              <a:defRPr sz="900" b="1">
                <a:solidFill>
                  <a:srgbClr val="10B981"/>
                </a:solidFill>
              </a:defRPr>
            </a:pPr>
            <a:r>
              <a:t>💡 Solusi Dynamic Field ESA: Stock Number Input + Switch Status OOS + Dropdown Alasan Kosong (OOS Reason)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96312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9464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52BA"/>
                </a:solidFill>
              </a:defRPr>
            </a:pPr>
            <a:r>
              <a:t>📌 KEBUTUHAN RIIL: Pricing &amp; Promo Tracking (Fonterra &amp; Mamasuka)</a:t>
            </a:r>
          </a:p>
          <a:p>
            <a:pPr>
              <a:defRPr sz="900" b="1">
                <a:solidFill>
                  <a:srgbClr val="10B981"/>
                </a:solidFill>
              </a:defRPr>
            </a:pPr>
            <a:r>
              <a:t>💡 Solusi Dynamic Field ESA: Price Field Normal vs Promo + Date Range Picker Periode Promo + Upload Foto Price Tag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496312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569464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52BA"/>
                </a:solidFill>
              </a:defRPr>
            </a:pPr>
            <a:r>
              <a:t>📌 KEBUTUHAN RIIL: Market Share &amp; Competitor Tracking (Dulux &amp; Mamasuka)</a:t>
            </a:r>
          </a:p>
          <a:p>
            <a:pPr>
              <a:defRPr sz="900" b="1">
                <a:solidFill>
                  <a:srgbClr val="10B981"/>
                </a:solidFill>
              </a:defRPr>
            </a:pPr>
            <a:r>
              <a:t>💡 Solusi Dynamic Field ESA: Repeater Field Multi-Brand (Jotun/Nippon/Mowilex/Kompetitor) + Estimasi Value Rupiah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58183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31335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52BA"/>
                </a:solidFill>
              </a:defRPr>
            </a:pPr>
            <a:r>
              <a:t>📌 KEBUTUHAN RIIL: Display &amp; POSM Tracker (Fonterra &amp; Mamasuka)</a:t>
            </a:r>
          </a:p>
          <a:p>
            <a:pPr>
              <a:defRPr sz="900" b="1">
                <a:solidFill>
                  <a:srgbClr val="10B981"/>
                </a:solidFill>
              </a:defRPr>
            </a:pPr>
            <a:r>
              <a:t>💡 Solusi Dynamic Field ESA: Multi-Photo Camera (Before/After) + Dropdown Tipe Display + Geotag Watermark GPS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58183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831335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52BA"/>
                </a:solidFill>
              </a:defRPr>
            </a:pPr>
            <a:r>
              <a:t>📌 KEBUTUHAN RIIL: Approval &amp; Verifikasi Koordinator (Mamasuka)</a:t>
            </a:r>
          </a:p>
          <a:p>
            <a:pPr>
              <a:defRPr sz="900" b="1">
                <a:solidFill>
                  <a:srgbClr val="10B981"/>
                </a:solidFill>
              </a:defRPr>
            </a:pPr>
            <a:r>
              <a:t>💡 Solusi Dynamic Field ESA: Status Verifikasi (Pending/Approved/Rejected) + Catatan Verifikator di Portal Subdomain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20056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93208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52BA"/>
                </a:solidFill>
              </a:defRPr>
            </a:pPr>
            <a:r>
              <a:t>📌 KEBUTUHAN RIIL: Monitoring Expired Date (Mamasuka)</a:t>
            </a:r>
          </a:p>
          <a:p>
            <a:pPr>
              <a:defRPr sz="900" b="1">
                <a:solidFill>
                  <a:srgbClr val="10B981"/>
                </a:solidFill>
              </a:defRPr>
            </a:pPr>
            <a:r>
              <a:t>💡 Solusi Dynamic Field ESA: Date Picker Tanggal Kadaluarsa + Quantity Input + Auto Diff Month Badge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5020056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5093208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52BA"/>
                </a:solidFill>
              </a:defRPr>
            </a:pPr>
            <a:r>
              <a:t>📌 KEBUTUHAN RIIL: Database Toko &amp; Visit TL (Dulux)</a:t>
            </a:r>
          </a:p>
          <a:p>
            <a:pPr>
              <a:defRPr sz="900" b="1">
                <a:solidFill>
                  <a:srgbClr val="10B981"/>
                </a:solidFill>
              </a:defRPr>
            </a:pPr>
            <a:r>
              <a:t>💡 Solusi Dynamic Field ESA: Master Store Dropdown + GPS Radius Check + Signature Pad Tanda Tangan Toko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ARSITEKTUR &amp; ALUR KERJA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4. Arsitektur Solusi 3 Pilar (End-to-End Workflow)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747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3108960" cy="502920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PILAR 1: SUPER ADMIN HUB</a:t>
            </a:r>
          </a:p>
          <a:p>
            <a:pPr algn="ctr">
              <a:defRPr sz="850">
                <a:solidFill>
                  <a:srgbClr val="FFFFFF"/>
                </a:solidFill>
              </a:defRPr>
            </a:pPr>
            <a:r>
              <a:t>Laravel 13 &amp; Filament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✔ Visual Form Builder (Drag &amp; drop / reorder fields).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✔ Manajemen Subdomain &amp; Whitelabel Branding.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✔ Penugasan Template (per Prinsiple / Jabatan / Event).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✔ Hak Akses Master &amp; Global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747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3712" y="1371600"/>
            <a:ext cx="3108960" cy="5029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PILAR 2: PORTAL KHUSUS PRINSIPLE</a:t>
            </a:r>
          </a:p>
          <a:p>
            <a:pPr algn="ctr">
              <a:defRPr sz="850">
                <a:solidFill>
                  <a:srgbClr val="FFFFFF"/>
                </a:solidFill>
              </a:defRPr>
            </a:pPr>
            <a:r>
              <a:t>{subdomain}.appsend.my.id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01168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✔ Data Isolation Middleware (100% Tenant Isolation).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✔ Custom Logo, Warna Brand &amp; Portal Title.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✔ Tabel Laporan Masuk Dinamis &amp; Detail GPS/Foto.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✔ Approval Workflow &amp; Export Excel/PDF Dinamis.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234440"/>
            <a:ext cx="34747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93023" y="1371600"/>
            <a:ext cx="3108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PILAR 3: MOBILE DYNAMIC ENGINE</a:t>
            </a:r>
          </a:p>
          <a:p>
            <a:pPr algn="ctr">
              <a:defRPr sz="850">
                <a:solidFill>
                  <a:srgbClr val="FFFFFF"/>
                </a:solidFill>
              </a:defRPr>
            </a:pPr>
            <a:r>
              <a:t>Flutter Dynamic JSON Renderer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201168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✔ Fetch skema JSON form aktif sesuai jadwal visit.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✔ Render UI input dinamis secara on-the-fly.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✔ Validasi Geotagging GPS, Watermark, &amp; Kamera Anti-Fake.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✔ Penyimpanan Offline &amp; Sinkronisasi Otomatis.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t>INTEGRASI DATA REAL-TIME &amp; ZERO DOWNTIME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Perubahan template form di Super Admin langsung otomatis tampil di aplikasi mobile saat karyawan memulai kunjungan. Laporan yang di-submit karyawan langsung muncul di dashboard portal prinsiple secara real-time.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KOMPONEN FORM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5. Fitur Utama: Visual Dynamic Form Builder (Google Forms Style)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F52BA"/>
                </a:solidFill>
              </a:defRPr>
            </a:pPr>
            <a:r>
              <a:t>15+ TIPE INPUT FIELD FLEKSIBEL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• Teks &amp; Deskripsi: 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</a:defRPr>
            </a:pPr>
            <a:r>
              <a:t>   Teks Singkat, Paragraf/Catatan, Number, Currency (Rupiah).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• Pilihan Ganda: 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</a:defRPr>
            </a:pPr>
            <a:r>
              <a:t>   Dropdown Pilihan, Radio Button, Multi-Select Checkbox.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• Bukti Visual (Kamera): 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</a:defRPr>
            </a:pPr>
            <a:r>
              <a:t>   Foto Kamera Tunggal, Multi-Foto (Before/After), Watermark GPS.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• Verifikasi Lapangan: 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</a:defRPr>
            </a:pPr>
            <a:r>
              <a:t>   Tanda Tangan Digital (Signature Pad), Barcode/QR Scanner.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• Penilaian &amp; Tanggal: 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</a:defRPr>
            </a:pPr>
            <a:r>
              <a:t>   Star Rating (1-5), Slider Skala, Date Picker, Time Picker.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• Lokasi &amp; Koordinat: 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</a:defRPr>
            </a:pPr>
            <a:r>
              <a:t>   Titik Lokasi GPS Otomatis &amp; Radius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3035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F52BA"/>
                </a:solidFill>
              </a:defRPr>
            </a:pPr>
            <a:r>
              <a:t>KONTROL &amp; LOGIKA VALIDASI CANGGIH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✔ Drag &amp; Drop Reordering: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</a:defRPr>
            </a:pPr>
            <a:r>
              <a:t>   Mengatur urutan pertanyaan dengan mudah dan cepat tanpa koding.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✔ Mandatory &amp; Custom Rules: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</a:defRPr>
            </a:pPr>
            <a:r>
              <a:t>   Menentukan field wajib/opsional, batasan karakter, nilai min/max.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✔ Conditional Visibility Logic: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</a:defRPr>
            </a:pPr>
            <a:r>
              <a:t>   Menampilkan pertanyaan lanjutan berdasarkan jawaban pilihan sebelumnya.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✔ Template Assignment Rules: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</a:defRPr>
            </a:pPr>
            <a:r>
              <a:t>   Menugaskan template form khusus untuk Prinsiple A, Jabatan Tertentu (SPG/MD/TL), atau Toko Spesifik.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✔ Instant Live Preview: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</a:defRPr>
            </a:pPr>
            <a:r>
              <a:t>   Fitur preview tampilan mobile form secara real-time sebelum dipublish.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✔ Version History &amp; Cloning:</a:t>
            </a:r>
          </a:p>
          <a:p>
            <a:pPr>
              <a:spcAft>
                <a:spcPts val="500"/>
              </a:spcAft>
              <a:defRPr sz="900">
                <a:solidFill>
                  <a:srgbClr val="64748B"/>
                </a:solidFill>
              </a:defRPr>
            </a:pPr>
            <a:r>
              <a:t>   Menyalin template yang sudah ada dan melacak riwayat revisi 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PORTAL PRINSIPLE &amp; DATA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6. Fitur Utama: Portal Mandiri Khusus Prinsiple (Multi-Tenant)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57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371600"/>
            <a:ext cx="4983480" cy="365760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SUBDOMAIN &amp; WHITELABEL BRANDING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83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Akses via subdomain tersendiri, misal: dulux.appsend.my.id, fonterra.appsend.my.id, mamasuka.appsend.my.id.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Tampilan UI menyesuaikan logo, warna identitas brand (hex primary color), dan custom portal banner.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Login terpisah khusus PIC / Supervisor / Manajemen Prinsiple.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257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4983480" cy="3657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TABEL LAPORAN MASUK DINAMIS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4983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Kolom tabel otomatis membaca field form yang dibuat di template tanpa koding.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Filter komprehensif: rentang tanggal, nama outlet, nama SPG/MD, status verifikasi.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Modal detail submission lengkap dengan galeri foto, tanda tangan, dan peta GPS.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57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977640"/>
            <a:ext cx="49834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APPROVAL &amp; VERIFIKASI LAPORAN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89120"/>
            <a:ext cx="4983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Fitur verifikasi langsung oleh Admin Prinsiple: Status Valid / Butuh Revisi / Ditolak.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Catatan verifikator langsung ternotifikasi ke aplikasi mobile karyawan.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Audit trail lengkap mencatat siapa yang memverifikasi dan waktu verifikasi.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40480"/>
            <a:ext cx="5257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3977640"/>
            <a:ext cx="498348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EKSPOR EXCEL &amp; PDF OTOMATIS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389120"/>
            <a:ext cx="4983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1-Click Export Excel: Format header kolom otomatis menyesuaikan field form dinamis.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Download PDF Laporan Kunjungan Resmi siap cetak / arsip audit.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Asynchronous queue export untuk dataset puluhan ribu baris tanpa server hang.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FLUTTER ENGINE &amp; OFFLINE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7. Fitur Utama: Mobile Dynamic Form Engine (Flutter)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747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3108960" cy="438912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ON-THE-FLY UI RENDERING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0F172A"/>
                </a:solidFill>
              </a:defRPr>
            </a:pPr>
            <a:r>
              <a:t>✔ Aplikasi mobile secara dinamis merender widget input (Text, Dropdown, Checkbox, Slider) berdasarkan skema JSON dari API.</a:t>
            </a:r>
          </a:p>
          <a:p>
            <a:pPr>
              <a:spcAft>
                <a:spcPts val="1200"/>
              </a:spcAft>
              <a:defRPr sz="1000">
                <a:solidFill>
                  <a:srgbClr val="0F172A"/>
                </a:solidFill>
              </a:defRPr>
            </a:pPr>
            <a:r>
              <a:t>✔ Tidak memerlukan compile atau update APK di PlayStore saat ada form baru atau revisi pertanyaan.</a:t>
            </a:r>
          </a:p>
          <a:p>
            <a:pPr>
              <a:spcAft>
                <a:spcPts val="1200"/>
              </a:spcAft>
              <a:defRPr sz="1000">
                <a:solidFill>
                  <a:srgbClr val="0F172A"/>
                </a:solidFill>
              </a:defRPr>
            </a:pPr>
            <a:r>
              <a:t>✔ Validasi input di sisi client berjalan real-time sebelum tombol submit aktif.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747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3712" y="1371600"/>
            <a:ext cx="3108960" cy="43891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GEOTAGGING &amp; KAMERA ANTI-FAKE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2024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0F172A"/>
                </a:solidFill>
              </a:defRPr>
            </a:pPr>
            <a:r>
              <a:t>✔ Pengambilan foto wajib via kamera langsung (mencegah upload dari galeri).</a:t>
            </a:r>
          </a:p>
          <a:p>
            <a:pPr>
              <a:spcAft>
                <a:spcPts val="1200"/>
              </a:spcAft>
              <a:defRPr sz="1000">
                <a:solidFill>
                  <a:srgbClr val="0F172A"/>
                </a:solidFill>
              </a:defRPr>
            </a:pPr>
            <a:r>
              <a:t>✔ Watermark otomatis tercetak permanen pada foto (Nama Karyawan, Nama Outlet, Jam &amp; Tanggal, Koordinat GPS).</a:t>
            </a:r>
          </a:p>
          <a:p>
            <a:pPr>
              <a:spcAft>
                <a:spcPts val="1200"/>
              </a:spcAft>
              <a:defRPr sz="1000">
                <a:solidFill>
                  <a:srgbClr val="0F172A"/>
                </a:solidFill>
              </a:defRPr>
            </a:pPr>
            <a:r>
              <a:t>✔ Validasi radius GPS mendeteksi apakah karyawan benar-benar berada di lokasi toko.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234440"/>
            <a:ext cx="34747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93023" y="1371600"/>
            <a:ext cx="310896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OFFLINE STORAGE &amp; AUTO-SYNC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192024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>
                <a:solidFill>
                  <a:srgbClr val="0F172A"/>
                </a:solidFill>
              </a:defRPr>
            </a:pPr>
            <a:r>
              <a:t>✔ Form pelaporan tetap dapat diisi penuh meskipun di area basemen/remote tanpa koneksi internet.</a:t>
            </a:r>
          </a:p>
          <a:p>
            <a:pPr>
              <a:spcAft>
                <a:spcPts val="1200"/>
              </a:spcAft>
              <a:defRPr sz="1000">
                <a:solidFill>
                  <a:srgbClr val="0F172A"/>
                </a:solidFill>
              </a:defRPr>
            </a:pPr>
            <a:r>
              <a:t>✔ Data form dan foto tersimpan aman di database lokal HP (SQLite/Hive).</a:t>
            </a:r>
          </a:p>
          <a:p>
            <a:pPr>
              <a:spcAft>
                <a:spcPts val="1200"/>
              </a:spcAft>
              <a:defRPr sz="1000">
                <a:solidFill>
                  <a:srgbClr val="0F172A"/>
                </a:solidFill>
              </a:defRPr>
            </a:pPr>
            <a:r>
              <a:t>✔ Auto-Sync otomatis mengirimkan data saat HP kembali mendapatkan koneksi internet.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SKEMA TABEL &amp; RELASI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8. Arsitektur Basis Data (EAV &amp; Multi-Tenant Schema)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74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52BA"/>
                </a:solidFill>
              </a:defRPr>
            </a:pPr>
            <a:r>
              <a:t>principals (Extended)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Master Prinsiple &amp; Branding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subdomain (unique, slug format)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theme_color (hex color #0F52BA)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logo_path &amp; banner_path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portal_title &amp; is_active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234440"/>
            <a:ext cx="3474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3716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52BA"/>
                </a:solidFill>
              </a:defRPr>
            </a:pPr>
            <a:r>
              <a:t>report_templates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Definisi Master Form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principal_id &amp; title &amp; description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category (Stok/Display/Survey)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require_gps &amp; require_signature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is_active &amp; version_number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234440"/>
            <a:ext cx="3474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4" y="13716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52BA"/>
                </a:solidFill>
              </a:defRPr>
            </a:pPr>
            <a:r>
              <a:t>report_form_fields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Elemen Input Dinamis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report_template_id &amp; field_name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field_type (text, number, photo, etc)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options (json for dropdown/radio)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is_required &amp; validation_rules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order_index (urutan drag-drop)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474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7764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52BA"/>
                </a:solidFill>
              </a:defRPr>
            </a:pPr>
            <a:r>
              <a:t>report_submissions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Header Laporan Masuk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submission_code (unique code)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principal_id, employee_id, outlet_id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latitude, longitude, submitted_at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status (pending, approved, rejected)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verified_by &amp; verification_notes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840480"/>
            <a:ext cx="3474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397764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52BA"/>
                </a:solidFill>
              </a:defRPr>
            </a:pPr>
            <a:r>
              <a:t>report_submission_values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Detail Nilai Isian (EAV)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report_submission_id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report_form_field_id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field_name &amp; field_type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value_text, value_number, value_json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media_url (file/foto path)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3840480"/>
            <a:ext cx="3474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397764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52BA"/>
                </a:solidFill>
              </a:defRPr>
            </a:pPr>
            <a:r>
              <a:t>report_template_assignments</a:t>
            </a:r>
          </a:p>
          <a:p>
            <a:pPr>
              <a:spcAft>
                <a:spcPts val="600"/>
              </a:spcAft>
              <a:defRPr sz="850">
                <a:solidFill>
                  <a:srgbClr val="64748B"/>
                </a:solidFill>
              </a:defRPr>
            </a:pPr>
            <a:r>
              <a:t>Aturan Penugasan Form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report_template_id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assigned_principal_id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assigned_position_id (SPG/MD)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assigned_branch_id / outlet_id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JADWAL IMPLEMENTASI &amp;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9. Timeline Proses Development (Roadmap 5 Minggu / 20 - 25 Hari)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109728" cy="777240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07592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FASE 1: Database &amp; Multi-Tenant Core</a:t>
            </a:r>
          </a:p>
          <a:p>
            <a:pPr>
              <a:defRPr sz="900" b="1">
                <a:solidFill>
                  <a:srgbClr val="0F52BA"/>
                </a:solidFill>
              </a:defRPr>
            </a:pPr>
            <a:r>
              <a:t>⏱ Minggu 1 (Hari 1 - 4)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32588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Migrasi Database (`principals`, `report_*`), Subdomain Routing Middleware, Tenant Scoping Enforcer.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03120"/>
            <a:ext cx="109728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76272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FASE 2: Super Admin Dynamic Form Builder</a:t>
            </a:r>
          </a:p>
          <a:p>
            <a:pPr>
              <a:defRPr sz="900" b="1">
                <a:solidFill>
                  <a:srgbClr val="2563EB"/>
                </a:solidFill>
              </a:defRPr>
            </a:pPr>
            <a:r>
              <a:t>⏱ Minggu 1 - 2 (Hari 5 - 9)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19456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Visual Drag &amp; Drop Form Builder di Filament 5, Field Configuration (15+ types), Template Dulux/Fonterra/Mamasuka Preset.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7180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971800"/>
            <a:ext cx="109728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44952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FASE 3: Mobile Dynamic Form Engine (Flutter)</a:t>
            </a:r>
          </a:p>
          <a:p>
            <a:pPr>
              <a:defRPr sz="900" b="1">
                <a:solidFill>
                  <a:srgbClr val="06B6D4"/>
                </a:solidFill>
              </a:defRPr>
            </a:pPr>
            <a:r>
              <a:t>⏱ Minggu 2 - 3 (Hari 10 - 14)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06324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Dynamic JSON Form UI Renderer, Geotagging &amp; Watermark Camera, Local Offline Storage &amp; Auto-Sync.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79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40479"/>
            <a:ext cx="109728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13631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FASE 4: Portal Khusus Prinsiple &amp; Reporting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⏱ Minggu 3 - 4 (Hari 15 - 19)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931919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Whitelabel Subdomain Layout, Dynamic Submissions Table, Verification/Approval Flow, Custom Excel/PDF Export.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0916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709160"/>
            <a:ext cx="109728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782312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FASE 5: Testing, Security &amp; UAT</a:t>
            </a:r>
          </a:p>
          <a:p>
            <a:pPr>
              <a:defRPr sz="900" b="1">
                <a:solidFill>
                  <a:srgbClr val="10B981"/>
                </a:solidFill>
              </a:defRPr>
            </a:pPr>
            <a:r>
              <a:t>⏱ Minggu 4 - 5 (Hari 20 - 22)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8006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End-to-end Integration Testing dengan Data Riil 3 Prinsiple, Security Audit Data Isolation, Load Testing Ekspor.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7784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577840"/>
            <a:ext cx="109728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650992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FASE 6: Deployment Live &amp; Handover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⏱ Minggu 5 (Hari 23 - 25)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5669279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Wildcard Subdomain DNS (*.appsend.my.id) &amp; SSL Setup, Production Release APK, User Guide &amp; Admin Training.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PEMBAGIAN TUGAS &amp; TANGGUNG JAWAB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10. Alokasi Tim &amp; Work Breakdown Structure (WBS)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6060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371600"/>
            <a:ext cx="2331720" cy="502920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BACKEND &amp; FILAMENT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>
                <a:solidFill>
                  <a:srgbClr val="0F172A"/>
                </a:solidFill>
              </a:defRPr>
            </a:pPr>
            <a:r>
              <a:t>✔ Desain skema database &amp; Eloquent relations.</a:t>
            </a:r>
          </a:p>
          <a:p>
            <a:pPr>
              <a:spcAft>
                <a:spcPts val="1000"/>
              </a:spcAft>
              <a:defRPr sz="950">
                <a:solidFill>
                  <a:srgbClr val="0F172A"/>
                </a:solidFill>
              </a:defRPr>
            </a:pPr>
            <a:r>
              <a:t>✔ Multi-Tenant Middleware &amp; Subdomain routing.</a:t>
            </a:r>
          </a:p>
          <a:p>
            <a:pPr>
              <a:spcAft>
                <a:spcPts val="1000"/>
              </a:spcAft>
              <a:defRPr sz="950">
                <a:solidFill>
                  <a:srgbClr val="0F172A"/>
                </a:solidFill>
              </a:defRPr>
            </a:pPr>
            <a:r>
              <a:t>✔ Dynamic Form Builder UI &amp; Preview engine.</a:t>
            </a:r>
          </a:p>
          <a:p>
            <a:pPr>
              <a:spcAft>
                <a:spcPts val="1000"/>
              </a:spcAft>
              <a:defRPr sz="950">
                <a:solidFill>
                  <a:srgbClr val="0F172A"/>
                </a:solidFill>
              </a:defRPr>
            </a:pPr>
            <a:r>
              <a:t>✔ Dynamic Excel/PDF Export generator with Queue.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234440"/>
            <a:ext cx="26060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93592" y="1371600"/>
            <a:ext cx="2331720" cy="5029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MOBILE FLUTTER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011680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>
                <a:solidFill>
                  <a:srgbClr val="0F172A"/>
                </a:solidFill>
              </a:defRPr>
            </a:pPr>
            <a:r>
              <a:t>✔ Dynamic JSON Form schema parser &amp; renderer.</a:t>
            </a:r>
          </a:p>
          <a:p>
            <a:pPr>
              <a:spcAft>
                <a:spcPts val="1000"/>
              </a:spcAft>
              <a:defRPr sz="950">
                <a:solidFill>
                  <a:srgbClr val="0F172A"/>
                </a:solidFill>
              </a:defRPr>
            </a:pPr>
            <a:r>
              <a:t>✔ Camera watermark &amp; Geotagging GPS validator.</a:t>
            </a:r>
          </a:p>
          <a:p>
            <a:pPr>
              <a:spcAft>
                <a:spcPts val="1000"/>
              </a:spcAft>
              <a:defRPr sz="950">
                <a:solidFill>
                  <a:srgbClr val="0F172A"/>
                </a:solidFill>
              </a:defRPr>
            </a:pPr>
            <a:r>
              <a:t>✔ Offline database cache &amp; background auto-sync.</a:t>
            </a:r>
          </a:p>
          <a:p>
            <a:pPr>
              <a:spcAft>
                <a:spcPts val="1000"/>
              </a:spcAft>
              <a:defRPr sz="950">
                <a:solidFill>
                  <a:srgbClr val="0F172A"/>
                </a:solidFill>
              </a:defRPr>
            </a:pPr>
            <a:r>
              <a:t>✔ UI/UX form filling optimization di HP Android/iOS.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234440"/>
            <a:ext cx="26060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8504" y="1371600"/>
            <a:ext cx="233172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UI/UX &amp; FRONTEND DESIGNER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011680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>
                <a:solidFill>
                  <a:srgbClr val="0F172A"/>
                </a:solidFill>
              </a:defRPr>
            </a:pPr>
            <a:r>
              <a:t>✔ Desain whitelabel portal khusus prinsiple.</a:t>
            </a:r>
          </a:p>
          <a:p>
            <a:pPr>
              <a:spcAft>
                <a:spcPts val="1000"/>
              </a:spcAft>
              <a:defRPr sz="950">
                <a:solidFill>
                  <a:srgbClr val="0F172A"/>
                </a:solidFill>
              </a:defRPr>
            </a:pPr>
            <a:r>
              <a:t>✔ Theme customizer (color palette, dynamic assets).</a:t>
            </a:r>
          </a:p>
          <a:p>
            <a:pPr>
              <a:spcAft>
                <a:spcPts val="1000"/>
              </a:spcAft>
              <a:defRPr sz="950">
                <a:solidFill>
                  <a:srgbClr val="0F172A"/>
                </a:solidFill>
              </a:defRPr>
            </a:pPr>
            <a:r>
              <a:t>✔ Dashboard metric widget &amp; responsive table.</a:t>
            </a:r>
          </a:p>
          <a:p>
            <a:pPr>
              <a:spcAft>
                <a:spcPts val="1000"/>
              </a:spcAft>
              <a:defRPr sz="950">
                <a:solidFill>
                  <a:srgbClr val="0F172A"/>
                </a:solidFill>
              </a:defRPr>
            </a:pPr>
            <a:r>
              <a:t>✔ Design system form builder components.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234440"/>
            <a:ext cx="26060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43416" y="1371600"/>
            <a:ext cx="233172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QA &amp; DEVOPS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2011680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>
                <a:solidFill>
                  <a:srgbClr val="0F172A"/>
                </a:solidFill>
              </a:defRPr>
            </a:pPr>
            <a:r>
              <a:t>✔ Konfigurasi Wildcard DNS &amp; Wildcard SSL di aaPanel.</a:t>
            </a:r>
          </a:p>
          <a:p>
            <a:pPr>
              <a:spcAft>
                <a:spcPts val="1000"/>
              </a:spcAft>
              <a:defRPr sz="950">
                <a:solidFill>
                  <a:srgbClr val="0F172A"/>
                </a:solidFill>
              </a:defRPr>
            </a:pPr>
            <a:r>
              <a:t>✔ Testing isolasi data multi-tenant &amp; security check.</a:t>
            </a:r>
          </a:p>
          <a:p>
            <a:pPr>
              <a:spcAft>
                <a:spcPts val="1000"/>
              </a:spcAft>
              <a:defRPr sz="950">
                <a:solidFill>
                  <a:srgbClr val="0F172A"/>
                </a:solidFill>
              </a:defRPr>
            </a:pPr>
            <a:r>
              <a:t>✔ Load testing form submission &amp; bulk report export.</a:t>
            </a:r>
          </a:p>
          <a:p>
            <a:pPr>
              <a:spcAft>
                <a:spcPts val="1000"/>
              </a:spcAft>
              <a:defRPr sz="950">
                <a:solidFill>
                  <a:srgbClr val="0F172A"/>
                </a:solidFill>
              </a:defRPr>
            </a:pPr>
            <a:r>
              <a:t>✔ Dokumentasi API &amp; User Manual Book.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RISK ASSESSMENT &amp; SAFEGUARDS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11. Manajemen Risiko &amp; Strategi Mitigasi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52BA"/>
                </a:solidFill>
              </a:defRPr>
            </a:pPr>
            <a:r>
              <a:t>⚠️ RISIKO #1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Kompleksitas Render Form Dinamis di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25880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POTENSI DAMPAK: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Tipe input yang variatif dapat menyebabkan crash jika skema JSON tidak sesuai.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325880"/>
            <a:ext cx="37490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STRATEGI MITIGASI: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Menstandarisasi JSON Schema formal + fallback default widget jika ada field yang belum dikenali.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96312"/>
            <a:ext cx="1072865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87752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59E0B"/>
                </a:solidFill>
              </a:defRPr>
            </a:pPr>
            <a:r>
              <a:t>⚠️ RISIKO #2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Kapasitas Penyimpanan Foto Bukti Lapangan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587752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POTENSI DAMPAK: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Ribuan foto per hari dapat membebani disk server jika tidak dikompresi.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587752"/>
            <a:ext cx="37490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STRATEGI MITIGASI: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Kompresi gambar otomatis di sisi client (Max 300KB) + integrasi Cloud Object Storage lifecycle.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58183"/>
            <a:ext cx="1072865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9623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⚠️ RISIKO #3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Potensi Kebocoran Data Antar Prinsiple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849623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POTENSI DAMPAK: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Admin Prinsiple A tidak boleh melihat data Prinsiple B dalam kondisi apa pun.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849623"/>
            <a:ext cx="37490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STRATEGI MITIGASI: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Penerapan Global Eloquent Scope + Tenant Middleware enforcer di level database &amp; routing.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20056"/>
            <a:ext cx="1072865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11496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6B6D4"/>
                </a:solidFill>
              </a:defRPr>
            </a:pPr>
            <a:r>
              <a:t>⚠️ RISIKO #4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Performa Ekspor Excel Ribuan Laporan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5111496"/>
            <a:ext cx="3108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POTENSI DAMPAK: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Ekspor puluhan ribu baris dengan kolom dinamis dapat menyebabkan memory exhaustion.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111496"/>
            <a:ext cx="374903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STRATEGI MITIGASI: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Menggunakan Background Queue Job (Laravel Queue) dengan notifikasi download saat file selesai di-generate.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10728655" cy="5120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12. Deliverables Resmi &amp; Langkah Eksekusi (Next Steps)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920240"/>
            <a:ext cx="4846320" cy="374903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F59E0B"/>
                </a:solidFill>
              </a:defRPr>
            </a:pPr>
            <a:r>
              <a:t>OUTPUT &amp; DELIVERABLES RESMI</a:t>
            </a:r>
          </a:p>
          <a:p>
            <a:pPr>
              <a:spcAft>
                <a:spcPts val="500"/>
              </a:spcAft>
              <a:defRPr sz="950">
                <a:solidFill>
                  <a:srgbClr val="FFFFFF"/>
                </a:solidFill>
              </a:defRPr>
            </a:pPr>
            <a:r>
              <a:t>✔ Dynamic Form Builder di Panel Super Admin.</a:t>
            </a:r>
          </a:p>
          <a:p>
            <a:pPr>
              <a:spcAft>
                <a:spcPts val="500"/>
              </a:spcAft>
              <a:defRPr sz="950">
                <a:solidFill>
                  <a:srgbClr val="FFFFFF"/>
                </a:solidFill>
              </a:defRPr>
            </a:pPr>
            <a:r>
              <a:t>✔ Preset Form Template Siap Pakai (Dulux, Fonterra, Mamasuka).</a:t>
            </a:r>
          </a:p>
          <a:p>
            <a:pPr>
              <a:spcAft>
                <a:spcPts val="500"/>
              </a:spcAft>
              <a:defRPr sz="950">
                <a:solidFill>
                  <a:srgbClr val="FFFFFF"/>
                </a:solidFill>
              </a:defRPr>
            </a:pPr>
            <a:r>
              <a:t>✔ Portal Khusus Multi-Tenant ({prinsiple}.appsend.my.id).</a:t>
            </a:r>
          </a:p>
          <a:p>
            <a:pPr>
              <a:spcAft>
                <a:spcPts val="500"/>
              </a:spcAft>
              <a:defRPr sz="950">
                <a:solidFill>
                  <a:srgbClr val="FFFFFF"/>
                </a:solidFill>
              </a:defRPr>
            </a:pPr>
            <a:r>
              <a:t>✔ Aplikasi Mobile Android &amp; iOS dengan Dynamic Form Engine.</a:t>
            </a:r>
          </a:p>
          <a:p>
            <a:pPr>
              <a:spcAft>
                <a:spcPts val="500"/>
              </a:spcAft>
              <a:defRPr sz="950">
                <a:solidFill>
                  <a:srgbClr val="FFFFFF"/>
                </a:solidFill>
              </a:defRPr>
            </a:pPr>
            <a:r>
              <a:t>✔ Modul Ekspor Excel &amp; PDF Otomatis.</a:t>
            </a:r>
          </a:p>
          <a:p>
            <a:pPr>
              <a:spcAft>
                <a:spcPts val="500"/>
              </a:spcAft>
              <a:defRPr sz="950">
                <a:solidFill>
                  <a:srgbClr val="FFFFFF"/>
                </a:solidFill>
              </a:defRPr>
            </a:pPr>
            <a:r>
              <a:t>✔ Dokumentasi Teknis &amp; Panduan Penggunaan (User Manual).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4846320" cy="374903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6B6D4"/>
                </a:solidFill>
              </a:defRPr>
            </a:pPr>
            <a:r>
              <a:t>LANGKAH EKSEKUSI BERIKUTNYA</a:t>
            </a:r>
          </a:p>
          <a:p>
            <a:pPr>
              <a:spcAft>
                <a:spcPts val="500"/>
              </a:spcAft>
              <a:defRPr sz="950">
                <a:solidFill>
                  <a:srgbClr val="FFFFFF"/>
                </a:solidFill>
              </a:defRPr>
            </a:pPr>
            <a:r>
              <a:t>1. Persetujuan Rencana Kerja &amp; Alokasi Timeline dari Stakeholder.</a:t>
            </a:r>
          </a:p>
          <a:p>
            <a:pPr>
              <a:spcAft>
                <a:spcPts val="500"/>
              </a:spcAft>
              <a:defRPr sz="950">
                <a:solidFill>
                  <a:srgbClr val="FFFFFF"/>
                </a:solidFill>
              </a:defRPr>
            </a:pPr>
            <a:r>
              <a:t>2. Setup DNS Wildcard (*.appsend.my.id) &amp; SSL Certificate di Server.</a:t>
            </a:r>
          </a:p>
          <a:p>
            <a:pPr>
              <a:spcAft>
                <a:spcPts val="500"/>
              </a:spcAft>
              <a:defRPr sz="950">
                <a:solidFill>
                  <a:srgbClr val="FFFFFF"/>
                </a:solidFill>
              </a:defRPr>
            </a:pPr>
            <a:r>
              <a:t>3. Kick-off Sprint 1: Migrasi Database &amp; Multi-Tenant Routing.</a:t>
            </a:r>
          </a:p>
          <a:p>
            <a:pPr>
              <a:spcAft>
                <a:spcPts val="500"/>
              </a:spcAft>
              <a:defRPr sz="950">
                <a:solidFill>
                  <a:srgbClr val="FFFFFF"/>
                </a:solidFill>
              </a:defRPr>
            </a:pPr>
            <a:r>
              <a:t>4. Pembuatan Template Preset Dulux, Fonterra, dan Mamasuka.</a:t>
            </a:r>
          </a:p>
          <a:p>
            <a:pPr>
              <a:spcAft>
                <a:spcPts val="500"/>
              </a:spcAft>
              <a:defRPr sz="950">
                <a:solidFill>
                  <a:srgbClr val="FFFFFF"/>
                </a:solidFill>
              </a:defRPr>
            </a:pPr>
            <a:r>
              <a:t>5. Testing bertahap per milestone hingga Deployment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