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2926080" cy="411480"/>
          </a:xfrm>
          <a:prstGeom prst="round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INFRASTRUCTURE SIZING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Rekomendasi Spesifikasi Server</a:t>
            </a:r>
          </a:p>
          <a:p>
            <a:pPr>
              <a:spcBef>
                <a:spcPts val="800"/>
              </a:spcBef>
              <a:defRPr sz="2200">
                <a:solidFill>
                  <a:srgbClr val="0FA8C4"/>
                </a:solidFill>
              </a:defRPr>
            </a:pPr>
            <a:r>
              <a:t>Aplikasi Presensi &amp; Pelaporan Lapangan (ESA Groups)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Analisis Beban Kerja &amp; Rekomendasi Kapasitas untuk Kuota 23.511 Karyawan (3 Group Company)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Disusun untuk: Manajemen IT &amp; Stakeholder Operasional | Agustus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Rekapitulasi Kuota &amp; Pembagian 3 Group Company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Total Populasi: 23.511 Karyawan dengan estimasi konsentrasi beban tinggi pada jam sibuk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0F52BA"/>
                </a:solidFill>
              </a:defRPr>
            </a:pPr>
            <a:r>
              <a:t>GROUP 1 (SINGLE ENTITY)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PT Arina Multi Karya</a:t>
            </a:r>
          </a:p>
          <a:p>
            <a:pPr>
              <a:spcBef>
                <a:spcPts val="800"/>
              </a:spcBef>
              <a:defRPr sz="2600" b="1">
                <a:solidFill>
                  <a:srgbClr val="0F52BA"/>
                </a:solidFill>
              </a:defRPr>
            </a:pPr>
            <a:r>
              <a:t>11.687 Karyawan</a:t>
            </a:r>
          </a:p>
          <a:p>
            <a:pPr>
              <a:spcBef>
                <a:spcPts val="1200"/>
              </a:spcBef>
              <a:defRPr sz="1150">
                <a:solidFill>
                  <a:srgbClr val="475569"/>
                </a:solidFill>
              </a:defRPr>
            </a:pPr>
            <a:r>
              <a:t>• Porsi: 49.7% dari total populasi</a:t>
            </a:r>
            <a:br/>
            <a:r>
              <a:t>• Peak RPS: 250 - 400 Request/detik</a:t>
            </a:r>
            <a:br/>
            <a:r>
              <a:t>• Karakteristik: Volume transaksi absensi, upload foto selfie, dan tracking live terbesar.</a:t>
            </a:r>
            <a:br/>
            <a:r>
              <a:t>• Kebutuhan: High-compute multi-core &amp; RAM besar untuk MySQL buffer.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7C3AED"/>
                </a:solidFill>
              </a:defRPr>
            </a:pPr>
            <a:r>
              <a:t>GROUP 2 (GABUNGAN 3 ENTITAS)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ATB + ATK + ABO</a:t>
            </a:r>
          </a:p>
          <a:p>
            <a:pPr>
              <a:spcBef>
                <a:spcPts val="800"/>
              </a:spcBef>
              <a:defRPr sz="2600" b="1">
                <a:solidFill>
                  <a:srgbClr val="7C3AED"/>
                </a:solidFill>
              </a:defRPr>
            </a:pPr>
            <a:r>
              <a:t>7.424 Karyawan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• Rincian Entitas:</a:t>
            </a:r>
            <a:br/>
            <a:r>
              <a:t>  - PT Anugrah Talenta Berkarya: 2.915</a:t>
            </a:r>
            <a:br/>
            <a:r>
              <a:t>  - PT Anugrah Terpercaya Kerja: 2.804</a:t>
            </a:r>
            <a:br/>
            <a:r>
              <a:t>  - PT Abadi Berkat Odelia: 1.705</a:t>
            </a:r>
            <a:br/>
            <a:r>
              <a:t>• Porsi: 31.6% total populasi</a:t>
            </a:r>
            <a:br/>
            <a:r>
              <a:t>• Peak RPS: 160 - 250 Request/detik</a:t>
            </a:r>
            <a:br/>
            <a:r>
              <a:t>• Kebutuhan: Server multi-tenant handal.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463040"/>
            <a:ext cx="3328416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GROUP 3 (SINGLE ENTITY)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PT Alva Karya Perkasa</a:t>
            </a:r>
          </a:p>
          <a:p>
            <a:pPr>
              <a:spcBef>
                <a:spcPts val="800"/>
              </a:spcBef>
              <a:defRPr sz="2600" b="1">
                <a:solidFill>
                  <a:srgbClr val="10B981"/>
                </a:solidFill>
              </a:defRPr>
            </a:pPr>
            <a:r>
              <a:t>4.400 Karyawan</a:t>
            </a:r>
          </a:p>
          <a:p>
            <a:pPr>
              <a:spcBef>
                <a:spcPts val="1200"/>
              </a:spcBef>
              <a:defRPr sz="1150">
                <a:solidFill>
                  <a:srgbClr val="475569"/>
                </a:solidFill>
              </a:defRPr>
            </a:pPr>
            <a:r>
              <a:t>• Porsi: 18.7% dari total populasi</a:t>
            </a:r>
            <a:br/>
            <a:r>
              <a:t>• Peak RPS: 100 - 150 Request/detik</a:t>
            </a:r>
            <a:br/>
            <a:r>
              <a:t>• Karakteristik: Beban stabil, volume foto dan kunjungan sedang-ke-tinggi.</a:t>
            </a:r>
            <a:br/>
            <a:r>
              <a:t>• Kebutuhan: Standar VPS High Performance dengan RAM efisien.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EEF4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52BA"/>
                </a:solidFill>
              </a:defRPr>
            </a:pPr>
            <a:r>
              <a:t>⏱ Pola Beban Jam Sibuk (Peak Window): 06:30 - 08:30 WIB (Pagi) &amp; 16:30 - 18:30 WIB (Sore). Pada rentang jam ini, ribuan karyawan melakukan Check-in/out, pengunggahan foto selfie kamera, kalkulasi geofence GPS, dan live tracking serentak.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Rekomendasi Spesifikasi Server per Company Group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Spesifikasi Minimal (Cukup Berjalan) vs Spesifikasi IDEAL (Rekomendasi Produksi Skala Penuh)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926080"/>
                <a:gridCol w="286481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Komponen Hardware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PT Arina Multi Karya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(11.687 Karyawan)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Gabungan 3 PT (ATB+ATK+ABO)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(7.424 Karyawan)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PT Alva Karya Perkasa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(4.400 Karyawan)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vCPU / Processor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8 vCPU (3.0+ GHz)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16 vCPU (EPYC/Xeon Gold)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6 - 8 vCPU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10 - 12 vCPU (High Compute)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4 vCPU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8 vCPU (High Performance)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RAM (Memory)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16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32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(16G DB Buffer + 8G Redis + 8G App)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16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24 - 32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(12G DB Buffer + 6G Redis + 8G App)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8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16 GB RAM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(8G DB Buffer + 4G Redis + 4G App)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Penyimpanan (Storage)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250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500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(+ S3 Object 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200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350 - 500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(+ S3 Object 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Minimal: 150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IDEAL: 250 GB NVMe SSD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  (+ S3 Object 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Bandwidth &amp; Network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1 Gbps Port Speed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Unmetered / Min. 5 TB/bln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1 Gbps Port Speed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Unmetered / Min. 4 TB/bln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1 Gbps Port Speed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• Unmetered / Min. 3 TB/bln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Karakteristik Beban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Traffic Sangat Tinggi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(~250-400 Req/detik)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Traffic Tinggi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(~160-250 Req/detik)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Traffic Sedang - Tinggi</a:t>
                      </a:r>
                    </a:p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(~100-150 Req/detik)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t>*Catatan: Konfigurasi IDEAL sangat dianjurkan untuk menjamin ketiadaan lag/antrean pada database saat ribuan karyawan melakukan presensi serentak.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Perbandingan Arsitektur: 3 Server Terpisah vs 1 Dedicated Server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Pertimbangan teknis &amp; efisiensi biaya untuk manajemen infrastruktur jangka panjang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663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200" b="1">
                <a:solidFill>
                  <a:srgbClr val="0F52BA"/>
                </a:solidFill>
              </a:defRPr>
            </a:pPr>
            <a:r>
              <a:t>OPSI A: 3 SERVER VPS TERPISAH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Dedicated VPS per Group Company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Total Resource: 3 Server Terpisah (~36 vCPU, ~80 GB RAM)</a:t>
            </a:r>
            <a:br/>
            <a:r>
              <a:t>• Isolasi Masalah: Sangat Baik. Jika satu company mengalami lonjakan traffic atau maintenance, company lain 100% aman dan tidak terpengaruh.</a:t>
            </a:r>
            <a:br/>
            <a:r>
              <a:t>• Keamanan: Database &amp; filesystem terpisah secara fisik di level OS.</a:t>
            </a:r>
            <a:br/>
            <a:r>
              <a:t>• Pemeliharaan: Harus mengelola 3 OS, 3 IP publik, 3 panel kontrol, dan 3 alur backup terpisah.</a:t>
            </a:r>
            <a:br/>
            <a:r>
              <a:t>• Biaya: Akumulasi biaya langganan 3 instance VPS cloud per bulan.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371600"/>
            <a:ext cx="51663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OPSI B: 1 DEDICATED SERVER FISIK (REKOMENDASI)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Bare Metal Server Multi-Tenant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Spesifikasi Mesin: 32 Core / 64 Thread (AMD EPYC / Dual Intel Xeon), 64 - 128 GB RAM ECC, 2x 1TB NVMe SSD RAID-1.</a:t>
            </a:r>
            <a:br/>
            <a:r>
              <a:t>• Performa: Sangat Tinggi &amp; Konsisten. Dedicated hardware tanpa virtualisasi overhead.</a:t>
            </a:r>
            <a:br/>
            <a:r>
              <a:t>• Pemeliharaan Sangat Praktis: Cukup 1 server, 1 panel (aaPanel / CloudPanel), dan 1 jadwal backup terpusat.</a:t>
            </a:r>
            <a:br/>
            <a:r>
              <a:t>• Efisiensi Biaya: Jauh lebih hemat biaya dibanding menyewa 3 VPS cloud dengan total RAM 80 GB.</a:t>
            </a:r>
            <a:br/>
            <a:r>
              <a:t>• Pembagian Company: Dibagi via Subdomain &amp; Nginx Virtual Host.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Optimasi Software Stack &amp; Solusi Media Storage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Strategi software dan penyimpanan agar server tetap kencang dan tidak membebani harddisk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300" b="1">
                <a:solidFill>
                  <a:srgbClr val="0F52BA"/>
                </a:solidFill>
              </a:defRPr>
            </a:pPr>
            <a:r>
              <a:t>1. Laravel Octane (FrankenPHP / Swoole)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Aplikasi berjalan in-memory tanpa memuat ulang framework pada setiap request. Meningkatkan throughput hingga 5x-10x lipat dan menangani ratusan request per detik secara instan.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2. Redis In-Memory Cache &amp; Queue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Memindahkan Session, Cache Query, dan Background Queue (Push Notifikasi FCM, Log Tracking, Sinkronisasi Odoo) ke RAM Redis untuk menghilangkan I/O disk bottleneck.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4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3. MySQL 8.0 Buffer Pool Tuning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Alokasikan 50%-60% total RAM server untuk innodb_buffer_pool_size agar query riwayat presensi, jadwal, dan master data selalu terbaca langsung dari RAM tanpa jeda disk.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4. Cloud Object Storage (S3 / Wasabi / Spaces)</a:t>
            </a:r>
          </a:p>
          <a:p>
            <a:pPr>
              <a:spcBef>
                <a:spcPts val="300"/>
              </a:spcBef>
              <a:defRPr sz="1050">
                <a:solidFill>
                  <a:srgbClr val="475569"/>
                </a:solidFill>
              </a:defRPr>
            </a:pPr>
            <a:r>
              <a:t>23.511 karyawan menghasilkan ~1,1 Juta foto absen/bulan (~150 GB/bulan). Wajib menggunakan Cloud Storage S3 agar NVMe server tetap bersih dan backup database hanya hitungan detik.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